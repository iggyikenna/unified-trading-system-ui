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84048"/>
          </a:xfrm>
          <a:prstGeom prst="roundRect">
            <a:avLst/>
          </a:prstGeom>
          <a:solidFill>
            <a:srgbClr val="111113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IBM Plex Sans"/>
              </a:defRPr>
            </a:pPr>
            <a:r>
              <a:t>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3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899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1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73152"/>
            <a:ext cx="1371600" cy="256032"/>
          </a:xfrm>
          <a:prstGeom prst="roundRect">
            <a:avLst/>
          </a:prstGeom>
          <a:solidFill>
            <a:srgbClr val="0F2C19"/>
          </a:solidFill>
          <a:ln w="9525">
            <a:solidFill>
              <a:srgbClr val="438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4ADE80"/>
                </a:solidFill>
                <a:latin typeface="IBM Plex Sans"/>
              </a:defRPr>
            </a:pPr>
            <a:r>
              <a:t>As-of: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73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IBM Plex Sans"/>
              </a:defRPr>
            </a:pPr>
            <a:r>
              <a:t>Search entity, run, service...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47088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92807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7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Simulate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9856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65576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Promote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92624" y="438912"/>
            <a:ext cx="1417320" cy="3200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8344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A0A0B"/>
                </a:solidFill>
                <a:latin typeface="IBM Plex San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0A0B"/>
                </a:solidFill>
                <a:latin typeface="IBM Plex Sans"/>
              </a:defRPr>
            </a:pPr>
            <a:r>
              <a:t>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Monitor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Explain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10928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Reconcile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822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JetBrains Mono"/>
              </a:defRPr>
            </a:pPr>
            <a:r>
              <a:t>Odum Delta One  &gt;  Apex Capital  &gt;  DEFI_ETH_STAKED_BASIS_SCE_1H  &gt;  cfg-2.4.0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1097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IBM Plex Sans"/>
              </a:defRPr>
            </a:pPr>
            <a:r>
              <a:t>Unified Trading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IBM Plex Sans"/>
              </a:defRPr>
            </a:pPr>
            <a:r>
              <a:t>UI / UX Redesign Vision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17830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IBM Plex Sans"/>
              </a:defRPr>
            </a:pPr>
            <a:r>
              <a:t>From 11 disconnected tools to 4 daily-use surfaces + 3 specialist tools.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1143000"/>
            <a:ext cx="1463040" cy="256032"/>
          </a:xfrm>
          <a:prstGeom prst="roundRect">
            <a:avLst/>
          </a:prstGeom>
          <a:solidFill>
            <a:srgbClr val="0F2A2F"/>
          </a:solidFill>
          <a:ln w="9525">
            <a:solidFill>
              <a:srgbClr val="2F8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22D3EE"/>
                </a:solidFill>
                <a:latin typeface="IBM Plex Sans"/>
              </a:defRPr>
            </a:pPr>
            <a:r>
              <a:t>Plan 2026-03-17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1143000"/>
            <a:ext cx="640080" cy="256032"/>
          </a:xfrm>
          <a:prstGeom prst="roundRect">
            <a:avLst/>
          </a:prstGeom>
          <a:solidFill>
            <a:srgbClr val="32260F"/>
          </a:solidFill>
          <a:ln w="9525">
            <a:solidFill>
              <a:srgbClr val="9B7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BBF24"/>
                </a:solidFill>
                <a:latin typeface="IBM Plex Sans"/>
              </a:defRPr>
            </a:pPr>
            <a:r>
              <a:t>Draft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15600" y="1143000"/>
            <a:ext cx="1371600" cy="256032"/>
          </a:xfrm>
          <a:prstGeom prst="roundRect">
            <a:avLst/>
          </a:prstGeom>
          <a:solidFill>
            <a:srgbClr val="132132"/>
          </a:solidFill>
          <a:ln w="9525">
            <a:solidFill>
              <a:srgbClr val="4E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60A5FA"/>
                </a:solidFill>
                <a:latin typeface="IBM Plex Sans"/>
              </a:defRPr>
            </a:pPr>
            <a:r>
              <a:t>Architecture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2194560"/>
            <a:ext cx="1828800" cy="11887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2286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Firm PnL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JetBrains Mono"/>
              </a:defRPr>
            </a:pPr>
            <a:r>
              <a:t>+$1.42m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79" y="290779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  +0.8% 1d</a:t>
            </a:r>
          </a:p>
        </p:txBody>
      </p:sp>
      <p:sp>
        <p:nvSpPr>
          <p:cNvPr id="44" name="Oval 43"/>
          <p:cNvSpPr/>
          <p:nvPr/>
        </p:nvSpPr>
        <p:spPr>
          <a:xfrm>
            <a:off x="411479" y="3223259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0936" y="3200399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2" y="3211829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69848" y="3154679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89304" y="3177539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508760" y="3131820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728216" y="3097529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874519" y="3086099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286000" y="2194560"/>
            <a:ext cx="1828800" cy="11887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23160" y="2286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Net Exposure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JetBrains Mono"/>
              </a:defRPr>
            </a:pPr>
            <a:r>
              <a:t>$4.2m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3160" y="290779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1.2x levered</a:t>
            </a:r>
          </a:p>
        </p:txBody>
      </p:sp>
      <p:sp>
        <p:nvSpPr>
          <p:cNvPr id="56" name="Oval 55"/>
          <p:cNvSpPr/>
          <p:nvPr/>
        </p:nvSpPr>
        <p:spPr>
          <a:xfrm>
            <a:off x="2423160" y="3177539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642615" y="3131820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62072" y="3223259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081528" y="3108959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300984" y="3200399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520440" y="3143249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739896" y="3188970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886200" y="3154679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297680" y="2194560"/>
            <a:ext cx="1828800" cy="11887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2286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Margin Health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34840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JetBrains Mono"/>
              </a:defRPr>
            </a:pPr>
            <a:r>
              <a:t>82%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4840" y="290779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$340k free</a:t>
            </a:r>
          </a:p>
        </p:txBody>
      </p:sp>
      <p:sp>
        <p:nvSpPr>
          <p:cNvPr id="68" name="Oval 67"/>
          <p:cNvSpPr/>
          <p:nvPr/>
        </p:nvSpPr>
        <p:spPr>
          <a:xfrm>
            <a:off x="4434840" y="3177539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654296" y="3166109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873752" y="3188970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093208" y="3177539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12664" y="3172968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532120" y="3182111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751576" y="3177539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897880" y="3175253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309360" y="2194560"/>
            <a:ext cx="1828800" cy="11887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6520" y="2286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Live Strategies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46520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JetBrains Mono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46520" y="290779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9 ok, 2 warn, 1 paused</a:t>
            </a:r>
          </a:p>
        </p:txBody>
      </p:sp>
      <p:sp>
        <p:nvSpPr>
          <p:cNvPr id="80" name="Oval 79"/>
          <p:cNvSpPr/>
          <p:nvPr/>
        </p:nvSpPr>
        <p:spPr>
          <a:xfrm>
            <a:off x="6446520" y="3177539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665976" y="3166109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885432" y="318897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104888" y="3177539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324344" y="3172968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543800" y="3182111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763256" y="3177539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909560" y="3175253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321040" y="2194560"/>
            <a:ext cx="1828800" cy="11887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58200" y="2286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Alerts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58200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  <a:latin typeface="JetBrains Mono"/>
              </a:defRPr>
            </a:pPr>
            <a:r>
              <a:t>3 crit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58200" y="290779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2 high</a:t>
            </a:r>
          </a:p>
        </p:txBody>
      </p:sp>
      <p:sp>
        <p:nvSpPr>
          <p:cNvPr id="92" name="Oval 91"/>
          <p:cNvSpPr/>
          <p:nvPr/>
        </p:nvSpPr>
        <p:spPr>
          <a:xfrm>
            <a:off x="8458200" y="3108959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677656" y="3131820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897112" y="3120389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116568" y="3177539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336024" y="3154679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555480" y="3200399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774936" y="3223259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921240" y="3246120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274320" y="3566160"/>
            <a:ext cx="5943600" cy="28346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200" y="3657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Strategy Performance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38862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Click strategy name -&gt; analytics  |  Click status -&gt; filtered positions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41148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Strategy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0" y="4114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Arch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017520" y="41148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St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74720" y="4114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PnL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06240" y="4114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Sharpe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114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DD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94960" y="4114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Trend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43434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JetBrains Mono"/>
              </a:defRPr>
            </a:pPr>
            <a:r>
              <a:t>DEFI_ETH_STAKED_BASIS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468880" y="4343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Yield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017520" y="43434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IBM Plex Sans"/>
              </a:defRPr>
            </a:pPr>
            <a:r>
              <a:t>  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74720" y="43434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JetBrains Mono"/>
              </a:defRPr>
            </a:pPr>
            <a:r>
              <a:t>+$289k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06240" y="4343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2.5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46320" y="4343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3.3%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46634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JetBrains Mono"/>
              </a:defRPr>
            </a:pPr>
            <a:r>
              <a:t>DEFI_ETH_BASIS_SCE_1H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0" y="46634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Arb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17520" y="46634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IBM Plex Sans"/>
              </a:defRPr>
            </a:pPr>
            <a:r>
              <a:t>  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74720" y="46634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JetBrains Mono"/>
              </a:defRPr>
            </a:pPr>
            <a:r>
              <a:t>+$412k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06240" y="46634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2.1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46320" y="46634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4.1%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4983479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JetBrains Mono"/>
              </a:defRPr>
            </a:pPr>
            <a:r>
              <a:t>DEFI_USDT_LENDING_SCE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468880" y="498347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Yield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017520" y="498347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IBM Plex Sans"/>
              </a:defRPr>
            </a:pPr>
            <a:r>
              <a:t>  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74720" y="4983479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JetBrains Mono"/>
              </a:defRPr>
            </a:pPr>
            <a:r>
              <a:t>+$91k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206240" y="498347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1.8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846320" y="498347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2.1%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7200" y="5303519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JetBrains Mono"/>
              </a:defRPr>
            </a:pPr>
            <a:r>
              <a:t>DEFI_ETH_RECURSIVE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468880" y="530351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Yield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017520" y="530351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IBM Plex Sans"/>
              </a:defRPr>
            </a:pPr>
            <a:r>
              <a:t>  W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474720" y="5303519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JetBrains Mono"/>
              </a:defRPr>
            </a:pPr>
            <a:r>
              <a:t>+$188k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206240" y="530351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1.9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846320" y="5303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5.2%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57200" y="5623559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JetBrains Mono"/>
              </a:defRPr>
            </a:pPr>
            <a:r>
              <a:t>TRADFI_SPY_ML_DIR_1H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468880" y="562355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Dir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17520" y="562355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IBM Plex Sans"/>
              </a:defRPr>
            </a:pPr>
            <a:r>
              <a:t>  L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74720" y="5623559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JetBrains Mono"/>
              </a:defRPr>
            </a:pPr>
            <a:r>
              <a:t>+$67k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562355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1.4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46320" y="56235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3.9%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" y="5943599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JetBrains Mono"/>
              </a:defRPr>
            </a:pPr>
            <a:r>
              <a:t>SPORTS_HT_ML_V2.1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468880" y="594359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Dir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017520" y="594359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IBM Plex Sans"/>
              </a:defRPr>
            </a:pPr>
            <a:r>
              <a:t>  L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474720" y="5943599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JetBrains Mono"/>
              </a:defRPr>
            </a:pPr>
            <a:r>
              <a:t>+$44k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206240" y="594359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1.6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846320" y="594359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1.8%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6263639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JetBrains Mono"/>
              </a:defRPr>
            </a:pPr>
            <a:r>
              <a:t>SPORTS_ARB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468880" y="626363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Arb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017520" y="626363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IBM Plex Sans"/>
              </a:defRPr>
            </a:pPr>
            <a:r>
              <a:t>  L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474720" y="6263639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JetBrains Mono"/>
              </a:defRPr>
            </a:pPr>
            <a:r>
              <a:t>+$31k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206240" y="626363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1.3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46320" y="626363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2.4%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400800" y="3566160"/>
            <a:ext cx="2743200" cy="28346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583680" y="3657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AFA"/>
                </a:solidFill>
                <a:latin typeface="IBM Plex Sans"/>
              </a:defRPr>
            </a:pPr>
            <a:r>
              <a:t>P&amp;L + Risk Attribution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8368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Same 6D, two sides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583680" y="41148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Component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80960" y="41148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P&amp;L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4114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Exposure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583680" y="434340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Funding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80960" y="434340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+$412k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21040" y="43434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JetBrains Mono"/>
              </a:defRPr>
            </a:pPr>
            <a:r>
              <a:t>$8.2m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583680" y="461772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Basis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80960" y="461772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+$355k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321040" y="461772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JetBrains Mono"/>
              </a:defRPr>
            </a:pPr>
            <a:r>
              <a:t>14 bps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583680" y="489204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Staking Yield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680960" y="489204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+$145k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321040" y="489204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JetBrains Mono"/>
              </a:defRPr>
            </a:pPr>
            <a:r>
              <a:t>LTV .72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583680" y="5166359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Delta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680960" y="5166359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+$61k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321040" y="516635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JetBrains Mono"/>
              </a:defRPr>
            </a:pPr>
            <a:r>
              <a:t>$2.4m net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583680" y="5440679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Greeks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680960" y="5440679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  <a:latin typeface="JetBrains Mono"/>
              </a:defRPr>
            </a:pPr>
            <a:r>
              <a:t>-$8k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321040" y="544067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JetBrains Mono"/>
              </a:defRPr>
            </a:pPr>
            <a:r>
              <a:t>Delta:-0.98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583680" y="5714999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Slippage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680960" y="5714999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  <a:latin typeface="JetBrains Mono"/>
              </a:defRPr>
            </a:pPr>
            <a:r>
              <a:t>-$61k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321040" y="571499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JetBrains Mono"/>
              </a:defRPr>
            </a:pPr>
            <a:r>
              <a:t>---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583680" y="5989319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Gas/Fees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680960" y="5989319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  <a:latin typeface="JetBrains Mono"/>
              </a:defRPr>
            </a:pPr>
            <a:r>
              <a:t>-$44k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321040" y="598931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JetBrains Mono"/>
              </a:defRPr>
            </a:pPr>
            <a:r>
              <a:t>---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583680" y="6263639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Recon Pending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680960" y="6263639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  <a:latin typeface="JetBrains Mono"/>
              </a:defRPr>
            </a:pPr>
            <a:r>
              <a:t>-$18k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321040" y="626363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JetBrains Mono"/>
              </a:defRPr>
            </a:pPr>
            <a:r>
              <a:t>4 breaks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9326880" y="3566160"/>
            <a:ext cx="2606040" cy="137160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46404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AFA"/>
                </a:solidFill>
                <a:latin typeface="IBM Plex Sans"/>
              </a:defRPr>
            </a:pPr>
            <a:r>
              <a:t>Alerts &amp; Incidents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464040" y="397763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7171"/>
                </a:solidFill>
                <a:latin typeface="IBM Plex Sans"/>
              </a:defRPr>
            </a:pPr>
            <a:r>
              <a:t>CRIT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921240" y="397763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Kill switch: DEFI_ETH_BASIS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9464040" y="429767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IBM Plex Sans"/>
              </a:defRPr>
            </a:pPr>
            <a:r>
              <a:t>HIGH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921240" y="429767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Feature freshness 92s lag EU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464040" y="46177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IBM Plex Sans"/>
              </a:defRPr>
            </a:pPr>
            <a:r>
              <a:t>MED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921240" y="461771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Recon break: Apex SMA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9326880" y="5120640"/>
            <a:ext cx="2606040" cy="128016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9464040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AFA"/>
                </a:solidFill>
                <a:latin typeface="IBM Plex Sans"/>
              </a:defRPr>
            </a:pPr>
            <a:r>
              <a:t>Health &amp; Freshness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464040" y="55321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JetBrains Mono"/>
              </a:defRPr>
            </a:pPr>
            <a:r>
              <a:t>features-delta-one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835640" y="553212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BBF24"/>
                </a:solidFill>
                <a:latin typeface="JetBrains Mono"/>
              </a:defRPr>
            </a:pPr>
            <a:r>
              <a:t>92s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1247120" y="553212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JetBrains Mono"/>
              </a:defRPr>
            </a:pPr>
            <a:r>
              <a:t>30s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9464040" y="58064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JetBrains Mono"/>
              </a:defRPr>
            </a:pPr>
            <a:r>
              <a:t>execution-service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835640" y="580644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JetBrains Mono"/>
              </a:defRPr>
            </a:pPr>
            <a:r>
              <a:t>2s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247120" y="580644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JetBrains Mono"/>
              </a:defRPr>
            </a:pPr>
            <a:r>
              <a:t>5s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9464040" y="6080759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JetBrains Mono"/>
              </a:defRPr>
            </a:pPr>
            <a:r>
              <a:t>risk-and-exposure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835640" y="6080759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JetBrains Mono"/>
              </a:defRPr>
            </a:pPr>
            <a:r>
              <a:t>4s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1247120" y="6080759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JetBrains Mono"/>
              </a:defRPr>
            </a:pPr>
            <a:r>
              <a:t>10s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464040" y="6355079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JetBrains Mono"/>
              </a:defRPr>
            </a:pPr>
            <a:r>
              <a:t>pnl-attribution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835640" y="6355079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JetBrains Mono"/>
              </a:defRPr>
            </a:pPr>
            <a:r>
              <a:t>8s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247120" y="6355079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JetBrains Mono"/>
              </a:defRPr>
            </a:pPr>
            <a:r>
              <a:t>15s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IBM Plex Sans"/>
              </a:defRPr>
            </a:pPr>
            <a:r>
              <a:t>The core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IBM Plex Sans"/>
              </a:defRPr>
            </a:pPr>
            <a:r>
              <a:t>The dark theme and component library are already institutional. The problem is information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11480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IBM Plex Sans"/>
              </a:defRPr>
            </a:pPr>
            <a:r>
              <a:t>Before: 11 isolated UIs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Duplicate deployments. Duplicate P&amp;L. Duplicate alerts. Manual port-hopping.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strategy-ui :5175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1488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&lt;-&gt;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execution-analytics-ui :5174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48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87171"/>
                </a:solidFill>
                <a:latin typeface="IBM Plex Sans"/>
              </a:defRPr>
            </a:pPr>
            <a:r>
              <a:t>90% identical 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trading-analytics-ui :5180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4688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&lt;-&gt;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68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client-reporting-ui :5182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4688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87171"/>
                </a:solidFill>
                <a:latin typeface="IBM Plex Sans"/>
              </a:defRPr>
            </a:pPr>
            <a:r>
              <a:t>Both show P&amp;L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batch-audit-ui :5181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7889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&lt;-&gt;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788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logs-dashboard-ui :5178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889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87171"/>
                </a:solidFill>
                <a:latin typeface="IBM Plex Sans"/>
              </a:defRPr>
            </a:pPr>
            <a:r>
              <a:t>Same API :8013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live-health-monitor-ui :5177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1089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&lt;-&gt;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1089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settlement-ui :5176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108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87171"/>
                </a:solidFill>
                <a:latin typeface="IBM Plex Sans"/>
              </a:defRPr>
            </a:pPr>
            <a:r>
              <a:t>Both show positions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290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onboarding-ui :5173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4290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&lt;-&gt;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4290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deployment-ui :5183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4290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87171"/>
                </a:solidFill>
                <a:latin typeface="IBM Plex Sans"/>
              </a:defRPr>
            </a:pPr>
            <a:r>
              <a:t>Both have /deployments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8404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  No workflow coherence (Design -&gt; ... -&gt; Reconcile invisible)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1148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  No entity hierarchy (Fund -&gt; Client -&gt; Strategy never navigable)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891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  No cross-UI navigation (users type port numbers)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6634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  /deployments in 10 of 11 UIs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37759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  P&amp;L in 3 different UIs with no canonical home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371600"/>
            <a:ext cx="5486400" cy="411480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IBM Plex Sans"/>
              </a:defRPr>
            </a:pPr>
            <a:r>
              <a:t>After: one operating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4 daily-use surfaces + 3 specialist tools. Connected by hierarchy, lifecycle, and deep links.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194560"/>
            <a:ext cx="5120640" cy="45720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24027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IBM Plex Sans"/>
              </a:defRPr>
            </a:pPr>
            <a:r>
              <a:t>Trading Command Center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441448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JetBrains Mono"/>
              </a:defRPr>
            </a:pPr>
            <a:r>
              <a:t>:5177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44144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IBM Plex Sans"/>
              </a:defRPr>
            </a:pPr>
            <a:r>
              <a:t>OBSERVE, INTERVENE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23317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IBM Plex Sans"/>
              </a:defRPr>
            </a:pPr>
            <a:r>
              <a:t>Live now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724912"/>
            <a:ext cx="5120640" cy="45720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277063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IBM Plex Sans"/>
              </a:defRPr>
            </a:pPr>
            <a:r>
              <a:t>Strategy 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9718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JetBrains Mono"/>
              </a:defRPr>
            </a:pPr>
            <a:r>
              <a:t>:5175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29718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IBM Plex Sans"/>
              </a:defRPr>
            </a:pPr>
            <a:r>
              <a:t>DESIGN, SIMULATE, PROMOTE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286207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A5FA"/>
                </a:solidFill>
                <a:latin typeface="IBM Plex Sans"/>
              </a:defRPr>
            </a:pPr>
            <a:r>
              <a:t>Historical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3255264"/>
            <a:ext cx="5120640" cy="45720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330098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IBM Plex Sans"/>
              </a:defRPr>
            </a:pPr>
            <a:r>
              <a:t>Market Intelligence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350215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JetBrains Mono"/>
              </a:defRPr>
            </a:pPr>
            <a:r>
              <a:t>:5180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35021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IBM Plex Sans"/>
              </a:defRPr>
            </a:pPr>
            <a:r>
              <a:t>EXPLAIN, RECONCILE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339242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IBM Plex Sans"/>
              </a:defRPr>
            </a:pPr>
            <a:r>
              <a:t>Post-trade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3785615"/>
            <a:ext cx="5120640" cy="45720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3831335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IBM Plex Sans"/>
              </a:defRPr>
            </a:pPr>
            <a:r>
              <a:t>Operations Hub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403250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JetBrains Mono"/>
              </a:defRPr>
            </a:pPr>
            <a:r>
              <a:t>:5183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403250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IBM Plex Sans"/>
              </a:defRPr>
            </a:pPr>
            <a:r>
              <a:t>DEPLOY, DIAGNOSE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392277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IBM Plex Sans"/>
              </a:defRPr>
            </a:pPr>
            <a:r>
              <a:t>Ops time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4531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IBM Plex Sans"/>
              </a:defRPr>
            </a:pPr>
            <a:r>
              <a:t>Specialist tools: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4727448"/>
            <a:ext cx="1554480" cy="256032"/>
          </a:xfrm>
          <a:prstGeom prst="roundRect">
            <a:avLst/>
          </a:prstGeom>
          <a:solidFill>
            <a:srgbClr val="0F2A2F"/>
          </a:solidFill>
          <a:ln w="9525">
            <a:solidFill>
              <a:srgbClr val="2F8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22D3EE"/>
                </a:solidFill>
                <a:latin typeface="IBM Plex Sans"/>
              </a:defRPr>
            </a:pPr>
            <a:r>
              <a:t>Config &amp; Onboarding :5173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4727448"/>
            <a:ext cx="1554480" cy="256032"/>
          </a:xfrm>
          <a:prstGeom prst="roundRect">
            <a:avLst/>
          </a:prstGeom>
          <a:solidFill>
            <a:srgbClr val="31170F"/>
          </a:solidFill>
          <a:ln w="9525">
            <a:solidFill>
              <a:srgbClr val="9A57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97316"/>
                </a:solidFill>
                <a:latin typeface="IBM Plex Sans"/>
              </a:defRPr>
            </a:pPr>
            <a:r>
              <a:t>ML Platform :5179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784080" y="4727448"/>
            <a:ext cx="1554480" cy="256032"/>
          </a:xfrm>
          <a:prstGeom prst="roundRect">
            <a:avLst/>
          </a:prstGeom>
          <a:solidFill>
            <a:srgbClr val="0F2A26"/>
          </a:solidFill>
          <a:ln w="9525">
            <a:solidFill>
              <a:srgbClr val="348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2DD4BF"/>
                </a:solidFill>
                <a:latin typeface="IBM Plex Sans"/>
              </a:defRPr>
            </a:pPr>
            <a:r>
              <a:t>Reporting &amp; Settlement :5182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760720"/>
            <a:ext cx="11247120" cy="548640"/>
          </a:xfrm>
          <a:prstGeom prst="roundRect">
            <a:avLst/>
          </a:prstGeom>
          <a:solidFill>
            <a:srgbClr val="111113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8338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Citadel-grade: the complexity stays; the navigation becomes legible. 7 repos, 7 ports, zero duplication.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IBM Plex Sans"/>
              </a:defRPr>
            </a:pPr>
            <a:r>
              <a:t>SMA model &amp; entity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Separately managed accounts: one strategy template, isolated client instances, positions diverge by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IBM Plex Sans"/>
              </a:defRPr>
            </a:pPr>
            <a:r>
              <a:t>Unit of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JetBrains Mono"/>
              </a:defRPr>
            </a:pPr>
            <a:r>
              <a:t>(strategy_id, client_id, config_version)  =  one async task, one position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Strategy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65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659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DEFI_ETH_STAKED_BASIS_SCE_1H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94560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odum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v2.4.0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9456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IBM Plex Sans"/>
              </a:defRPr>
            </a:pPr>
            <a:r>
              <a:t>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7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DEFI_ETH_STAKED_BASIS_SCE_1H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468879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apex_capital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46887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v2.4.0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468879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IBM Plex Sans"/>
              </a:defRPr>
            </a:pPr>
            <a: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4319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DEFI_ETH_STAKED_BASIS_SCE_1H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743199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meridian_fund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74319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v2.3.1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743199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IBM Plex Sans"/>
              </a:defRPr>
            </a:pPr>
            <a:r>
              <a:t>Paper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01751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DEFI_ETH_BASIS_SCE_1H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017519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odum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01751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v3.2.1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017519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IBM Plex Sans"/>
              </a:defRPr>
            </a:pPr>
            <a: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29183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TRADFI_SPY_ML_DIR_1H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291839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odum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29183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v1.0.0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291839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IBM Plex Sans"/>
              </a:defRPr>
            </a:pPr>
            <a:r>
              <a:t>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56615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SPORTS_HT_ML_V2.1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566159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apex_capital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56615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v2.1.0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566159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IBM Plex Sans"/>
              </a:defRPr>
            </a:pPr>
            <a:r>
              <a:t>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4290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Same strategy code, different fills, different positions. This is expected and normal.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280160"/>
            <a:ext cx="5486400" cy="25603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IBM Plex Sans"/>
              </a:defRPr>
            </a:pPr>
            <a:r>
              <a:t>Three parallel hierarchies (batch + live)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69164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Each has a batch (historical) and live (real-time) variant. Same drill path, different data source.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011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IBM Plex Sans"/>
              </a:defRPr>
            </a:pPr>
            <a:r>
              <a:t>P&amp;L Hierarchy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21284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All -&gt; Client -&gt; Strategy -&gt; Venue -&gt; Component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39572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Funding, basis, staking yield, delta, greeks, slippage, gas, recon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560320"/>
            <a:ext cx="5029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IBM Plex Sans"/>
              </a:defRPr>
            </a:pPr>
            <a:r>
              <a:t>Home: Market Intelligence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7889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IBM Plex Sans"/>
              </a:defRPr>
            </a:pPr>
            <a:r>
              <a:t>Position Hierarchy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99008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All -&gt; Client -&gt; Strategy -&gt; Venue -&gt; Instrument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17296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Net qty, avg price, unrealized PnL, margin used, health factor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337560"/>
            <a:ext cx="5029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0A5FA"/>
                </a:solidFill>
                <a:latin typeface="IBM Plex Sans"/>
              </a:defRPr>
            </a:pPr>
            <a:r>
              <a:t>Home: Trading Command Center (live) / Reporting (EOD)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566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IBM Plex Sans"/>
              </a:defRPr>
            </a:pPr>
            <a:r>
              <a:t>Risk / Exposure Hierarchy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76732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All -&gt; Client -&gt; Strategy -&gt; Venue -&gt; Risk Dim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95020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Delta exp, funding exp, basis spread, LTV, greeks, margin util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114800"/>
            <a:ext cx="5029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78BFA"/>
                </a:solidFill>
                <a:latin typeface="IBM Plex Sans"/>
              </a:defRPr>
            </a:pPr>
            <a:r>
              <a:t>Home: Trading Command Center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114800"/>
            <a:ext cx="11247120" cy="23774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206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IBM Plex Sans"/>
              </a:defRPr>
            </a:pPr>
            <a:r>
              <a:t>Strategy archetypes — groupable, not just by asset class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52628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Strategies share patterns across asset classes. The catalogue groups by archetype, then filters by asset class.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4846320"/>
            <a:ext cx="2606040" cy="146304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IBM Plex Sans"/>
              </a:defRPr>
            </a:pPr>
            <a:r>
              <a:t>Arbitrage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Exploit price discrepancies across venues or legs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53212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DEFI_ETH_BASIS_SCE_1H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571500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SPORTS_ARB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589788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CEFI cross-exchange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29000" y="4846320"/>
            <a:ext cx="2606040" cy="146304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6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IBM Plex Sans"/>
              </a:defRPr>
            </a:pPr>
            <a:r>
              <a:t>Market Making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616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Continuous quoting, earn spread/fees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66160" y="553212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DEFI_ETH_USDT_MM_LP_V3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66160" y="571500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CEFI_BTC_MM_BINANCE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66160" y="589788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SPORTS_MM_BETFAIR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4846320"/>
            <a:ext cx="2606040" cy="146304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8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IBM Plex Sans"/>
              </a:defRPr>
            </a:pPr>
            <a:r>
              <a:t>Directional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ML-driven or signal-driven position taking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55080" y="553212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TRADFI_SPY_ML_DIR_1H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571500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SPORTS_HT_ML_V2.1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55080" y="589788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CEFI_MOMENTUM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06840" y="4846320"/>
            <a:ext cx="2606040" cy="146304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IBM Plex Sans"/>
              </a:defRPr>
            </a:pPr>
            <a:r>
              <a:t>Yield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Earn yield from lending, staking, or funding rates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553212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DEFI_USDT_LENDING_SCE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0" y="571500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DEFI_ETH_STAKED_BASIS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0" y="589788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DEFI_ETH_RECURSIVE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640080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2525B"/>
                </a:solidFill>
                <a:latin typeface="IBM Plex Sans"/>
              </a:defRPr>
            </a:pPr>
            <a:r>
              <a:t>ML Training is a deep-dive sub-view of Directional strategies — not a separate archetype.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IBM Plex Sans"/>
              </a:defRPr>
            </a:pPr>
            <a:r>
              <a:t>Exploration to live — one pattern, three domain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Strategy, ML, and Execution configs follow the same flow shape. Each domain adds its own nuances.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FAFA"/>
                </a:solidFill>
                <a:latin typeface="IBM Plex Sans"/>
              </a:defRPr>
            </a:pPr>
            <a:r>
              <a:t>Shared flow shape (all three domains):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645920" cy="41148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IBM Plex Sans"/>
              </a:defRPr>
            </a:pPr>
            <a:r>
              <a:t>Configure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Grid 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5564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645920"/>
            <a:ext cx="1645920" cy="41148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66420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IBM Plex Sans"/>
              </a:defRPr>
            </a:pPr>
            <a:r>
              <a:t>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8288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Configs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75564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45920"/>
            <a:ext cx="1645920" cy="41148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6420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IBM Plex Sans"/>
              </a:defRPr>
            </a:pPr>
            <a:r>
              <a:t>Run Batch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288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(Sharded)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75564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645920"/>
            <a:ext cx="1645920" cy="41148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66420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IBM Plex Sans"/>
              </a:defRPr>
            </a:pPr>
            <a:r>
              <a:t>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8288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75564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1645920"/>
            <a:ext cx="1645920" cy="41148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66420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IBM Plex Sans"/>
              </a:defRPr>
            </a:pPr>
            <a:r>
              <a:t>Select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8288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Candidates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175564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-&gt;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1645920"/>
            <a:ext cx="1645920" cy="41148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166420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IBM Plex Sans"/>
              </a:defRPr>
            </a:pPr>
            <a:r>
              <a:t>Promote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82880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to Live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377440"/>
            <a:ext cx="3566160" cy="384048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468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IBM Plex Sans"/>
              </a:defRPr>
            </a:pPr>
            <a:r>
              <a:t>Strategy Config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27432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Surface: Strategy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01752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  <a:latin typeface="IBM Plex Sans"/>
              </a:defRPr>
            </a:pPr>
            <a:r>
              <a:t>01 Configure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01752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Instruments + venues + algos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36499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  <a:latin typeface="IBM Plex Sans"/>
              </a:defRPr>
            </a:pPr>
            <a:r>
              <a:t>02 Generate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364991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param grid: mode x timeframe x 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712463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  <a:latin typeface="IBM Plex Sans"/>
              </a:defRPr>
            </a:pPr>
            <a:r>
              <a:t>03 Run Batch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3712463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Sharded by category/venue/date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059935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  <a:latin typeface="IBM Plex Sans"/>
              </a:defRPr>
            </a:pPr>
            <a:r>
              <a:t>04 Analyse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05993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Sharpe, PnL, drawdown, win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407407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  <a:latin typeface="IBM Plex Sans"/>
              </a:defRPr>
            </a:pPr>
            <a:r>
              <a:t>05 Select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4407407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DimensionalGrid multi-select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75487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  <a:latin typeface="IBM Plex Sans"/>
              </a:defRPr>
            </a:pPr>
            <a:r>
              <a:t>06 Promote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754879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Cross-link to Ops /deploy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2377440"/>
            <a:ext cx="3566160" cy="384048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2468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IBM Plex Sans"/>
              </a:defRPr>
            </a:pPr>
            <a:r>
              <a:t>ML Model Config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27432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Surface: ML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301752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97316"/>
                </a:solidFill>
                <a:latin typeface="IBM Plex Sans"/>
              </a:defRPr>
            </a:pPr>
            <a:r>
              <a:t>01 Configure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79" y="301752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Model arch + hyperparameters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336499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97316"/>
                </a:solidFill>
                <a:latin typeface="IBM Plex Sans"/>
              </a:defRPr>
            </a:pPr>
            <a:r>
              <a:t>02 Generate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9" y="3364991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grid: lr x layers x dropout x timeframe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3712463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97316"/>
                </a:solidFill>
                <a:latin typeface="IBM Plex Sans"/>
              </a:defRPr>
            </a:pPr>
            <a:r>
              <a:t>03 Run Batch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79" y="3712463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GPU training jobs (Cloud Run)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4059935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97316"/>
                </a:solidFill>
                <a:latin typeface="IBM Plex Sans"/>
              </a:defRPr>
            </a:pPr>
            <a:r>
              <a:t>04 Analyse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9" y="405993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Accuracy, loss, Sharpe improvement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4407407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97316"/>
                </a:solidFill>
                <a:latin typeface="IBM Plex Sans"/>
              </a:defRPr>
            </a:pPr>
            <a:r>
              <a:t>05 Select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079" y="4407407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Best model per instrument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475487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97316"/>
                </a:solidFill>
                <a:latin typeface="IBM Plex Sans"/>
              </a:defRPr>
            </a:pPr>
            <a:r>
              <a:t>06 Promote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79" y="4754879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Deploy to ml-inference-service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55279" y="2377440"/>
            <a:ext cx="3566160" cy="384048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59" y="2468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BM Plex Sans"/>
              </a:defRPr>
            </a:pPr>
            <a:r>
              <a:t>Execution Config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59" y="27432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Surface: Strategy Analytics (Execution tab)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59" y="301752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IBM Plex Sans"/>
              </a:defRPr>
            </a:pPr>
            <a:r>
              <a:t>01 Configure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19" y="301752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Algo type + venue routing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59" y="336499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IBM Plex Sans"/>
              </a:defRPr>
            </a:pPr>
            <a:r>
              <a:t>02 Generate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19" y="3364991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grid: algo x instrument x benchmark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59" y="3712463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IBM Plex Sans"/>
              </a:defRPr>
            </a:pPr>
            <a:r>
              <a:t>03 Run Batch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19" y="3712463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Replay on historical tick data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59" y="4059935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IBM Plex Sans"/>
              </a:defRPr>
            </a:pPr>
            <a:r>
              <a:t>04 Analyse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19" y="405993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Alpha bps, slippage, fill 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38159" y="4407407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IBM Plex Sans"/>
              </a:defRPr>
            </a:pPr>
            <a:r>
              <a:t>05 Select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19" y="4407407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Best algo per venue+instrument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59" y="475487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IBM Plex Sans"/>
              </a:defRPr>
            </a:pPr>
            <a:r>
              <a:t>06 Promote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19" y="4754879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Update execution-service config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6400800"/>
            <a:ext cx="11247120" cy="365760"/>
          </a:xfrm>
          <a:prstGeom prst="roundRect">
            <a:avLst/>
          </a:prstGeom>
          <a:solidFill>
            <a:srgbClr val="111113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FAFA"/>
                </a:solidFill>
                <a:latin typeface="IBM Plex Sans"/>
              </a:defRPr>
            </a:pPr>
            <a:r>
              <a:t>No auto-deploy. Promote creates a reviewed handoff via cross-link to Operations Hub with pre-filled deploy 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84048"/>
          </a:xfrm>
          <a:prstGeom prst="roundRect">
            <a:avLst/>
          </a:prstGeom>
          <a:solidFill>
            <a:srgbClr val="111113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IBM Plex Sans"/>
              </a:defRPr>
            </a:pPr>
            <a:r>
              <a:t>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3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899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1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73152"/>
            <a:ext cx="1371600" cy="256032"/>
          </a:xfrm>
          <a:prstGeom prst="roundRect">
            <a:avLst/>
          </a:prstGeom>
          <a:solidFill>
            <a:srgbClr val="0F2C19"/>
          </a:solidFill>
          <a:ln w="9525">
            <a:solidFill>
              <a:srgbClr val="438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4ADE80"/>
                </a:solidFill>
                <a:latin typeface="IBM Plex Sans"/>
              </a:defRPr>
            </a:pPr>
            <a:r>
              <a:t>As-of: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73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IBM Plex Sans"/>
              </a:defRPr>
            </a:pPr>
            <a:r>
              <a:t>Search entity, run, service...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47088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92807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7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Simulate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9856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65576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Promote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92624" y="438912"/>
            <a:ext cx="1417320" cy="3200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8344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A0A0B"/>
                </a:solidFill>
                <a:latin typeface="IBM Plex San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0A0B"/>
                </a:solidFill>
                <a:latin typeface="IBM Plex Sans"/>
              </a:defRPr>
            </a:pPr>
            <a:r>
              <a:t>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Monitor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Explain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10928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Reconcile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822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JetBrains Mono"/>
              </a:defRPr>
            </a:pPr>
            <a:r>
              <a:t>Odum Delta One  &gt;  All Clients  &gt;  All Strategies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1005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IBM Plex Sans"/>
              </a:defRPr>
            </a:pPr>
            <a:r>
              <a:t>Surface 01 — Trading Command Center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1325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IBM Plex Sans"/>
              </a:defRPr>
            </a:pPr>
            <a:r>
              <a:t>What is the state of the world — right now, or at any point in time?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1691640"/>
            <a:ext cx="1828800" cy="11887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1783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Firm PnL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JetBrains Mono"/>
              </a:defRPr>
            </a:pPr>
            <a:r>
              <a:t>+$1.42m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79" y="24048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  +0.8% 1d</a:t>
            </a:r>
          </a:p>
        </p:txBody>
      </p:sp>
      <p:sp>
        <p:nvSpPr>
          <p:cNvPr id="40" name="Oval 39"/>
          <p:cNvSpPr/>
          <p:nvPr/>
        </p:nvSpPr>
        <p:spPr>
          <a:xfrm>
            <a:off x="411479" y="2720339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0936" y="2697479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0392" y="2708910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9848" y="2651760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89304" y="2674620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508760" y="2628900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28216" y="2594610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874519" y="2583179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286000" y="1691640"/>
            <a:ext cx="1828800" cy="11887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60" y="1783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Net Exposure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JetBrains Mono"/>
              </a:defRPr>
            </a:pPr>
            <a:r>
              <a:t>$4.2m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23160" y="24048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1.2x levered</a:t>
            </a:r>
          </a:p>
        </p:txBody>
      </p:sp>
      <p:sp>
        <p:nvSpPr>
          <p:cNvPr id="52" name="Oval 51"/>
          <p:cNvSpPr/>
          <p:nvPr/>
        </p:nvSpPr>
        <p:spPr>
          <a:xfrm>
            <a:off x="2423160" y="2674620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642615" y="2628900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862072" y="2720339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81528" y="2606039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300984" y="2697479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20440" y="2640329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739896" y="2686050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886200" y="2651760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297680" y="1691640"/>
            <a:ext cx="1828800" cy="11887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34840" y="1783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Margin Health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3484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JetBrains Mono"/>
              </a:defRPr>
            </a:pPr>
            <a:r>
              <a:t>82%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34840" y="24048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$340k free</a:t>
            </a:r>
          </a:p>
        </p:txBody>
      </p:sp>
      <p:sp>
        <p:nvSpPr>
          <p:cNvPr id="64" name="Oval 63"/>
          <p:cNvSpPr/>
          <p:nvPr/>
        </p:nvSpPr>
        <p:spPr>
          <a:xfrm>
            <a:off x="4434840" y="2674620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654296" y="2663189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873752" y="2686050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093208" y="2674620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12664" y="2670048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32120" y="2679191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751576" y="2674620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97880" y="2672334"/>
            <a:ext cx="36576" cy="3657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309360" y="1691640"/>
            <a:ext cx="1828800" cy="11887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46520" y="1783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Live Strats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4652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JetBrains Mono"/>
              </a:defRPr>
            </a:pPr>
            <a:r>
              <a:t>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46520" y="24048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9 healthy</a:t>
            </a:r>
          </a:p>
        </p:txBody>
      </p:sp>
      <p:sp>
        <p:nvSpPr>
          <p:cNvPr id="76" name="Oval 75"/>
          <p:cNvSpPr/>
          <p:nvPr/>
        </p:nvSpPr>
        <p:spPr>
          <a:xfrm>
            <a:off x="6446520" y="267462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665976" y="2663189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885432" y="268605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104888" y="267462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324344" y="2670048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543800" y="2679191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763256" y="2674620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909560" y="2672334"/>
            <a:ext cx="36576" cy="3657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321040" y="1691640"/>
            <a:ext cx="1828800" cy="11887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58200" y="1783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Alerts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5820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  <a:latin typeface="JetBrains Mono"/>
              </a:defRPr>
            </a:pPr>
            <a:r>
              <a:t>3 crit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58200" y="24048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2 high</a:t>
            </a:r>
          </a:p>
        </p:txBody>
      </p:sp>
      <p:sp>
        <p:nvSpPr>
          <p:cNvPr id="88" name="Oval 87"/>
          <p:cNvSpPr/>
          <p:nvPr/>
        </p:nvSpPr>
        <p:spPr>
          <a:xfrm>
            <a:off x="8458200" y="2606039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677656" y="2628900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897112" y="2617470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116568" y="2674620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336024" y="2651760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555480" y="2697479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74936" y="2720339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21240" y="2743200"/>
            <a:ext cx="36576" cy="3657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74320" y="2880360"/>
            <a:ext cx="11612880" cy="10058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IBM Plex Sans"/>
              </a:defRPr>
            </a:pPr>
            <a:r>
              <a:t>Kill Switch / Intervention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3200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Scope:  Fund &gt; Client &gt; Strategy &gt; Venue   |   Actions:  Pause strategy  |  Cancel orders  |  Flatten exposure  |  Disable venue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34747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Every action requires rationale, shows affected position count, generates incident + audit record. No silent kills.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74320" y="4069080"/>
            <a:ext cx="5669280" cy="25603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200" y="4160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Routes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44348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/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0" y="4434840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Fund dashboard: KPIs + strategy table + P&amp;L/risk attribution + alerts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473659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/positions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4736592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Live positions, filter by [Client | Strategy | Venue | Asset Class]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" y="503834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/positions/:runId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828800" y="5038344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Position detail: orders, fills, execution timeline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7200" y="534009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/risk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828800" y="5340096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Risk matrix + exposure attribution + margin health + DeFi LTV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564184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/alerts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28800" y="5641848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Unified alert feed, severity-colored, incident creation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59436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/health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5943600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Service health grid + dependency DAG + feature freshness SLA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624535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/manual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828800" y="6245352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Manual trade entry (scoped) + kill switches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126480" y="4069080"/>
            <a:ext cx="5760720" cy="25603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09360" y="4160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/risk — Four tabs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09360" y="4480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IBM Plex Sans"/>
              </a:defRPr>
            </a:pPr>
            <a:r>
              <a:t>Risk Summary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09360" y="46817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All limits at a glance, highest utilization first. Value vs limit with %.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09360" y="49834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IBM Plex Sans"/>
              </a:defRPr>
            </a:pPr>
            <a:r>
              <a:t>Exposure Attribution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09360" y="51846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Same 6D as P&amp;L, each with limit threshold. Forward-looking.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09360" y="54864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IBM Plex Sans"/>
              </a:defRPr>
            </a:pPr>
            <a:r>
              <a:t>Margin &amp; LTV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09360" y="56875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Per-venue margin vs limit. Per-position DeFi health factor vs liquidation.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309360" y="5989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IBM Plex Sans"/>
              </a:defRPr>
            </a:pPr>
            <a:r>
              <a:t>Limits Detail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309360" y="61904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Full hierarchy drill-down: firm -&gt; client -&gt; strategy -&gt; venue -&gt; instrument.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09360" y="6400800"/>
            <a:ext cx="5303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Delta Exp  ████████████░░░░░  $2.4m/$5.0m (48%) ●  |  Margin  █████████████████░  78%/80% (97%) 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84048"/>
          </a:xfrm>
          <a:prstGeom prst="roundRect">
            <a:avLst/>
          </a:prstGeom>
          <a:solidFill>
            <a:srgbClr val="111113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IBM Plex Sans"/>
              </a:defRPr>
            </a:pPr>
            <a: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3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899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1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B"/>
                </a:solidFill>
                <a:latin typeface="IBM Plex Sans"/>
              </a:defRPr>
            </a:pPr>
            <a:r>
              <a:t>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73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IBM Plex Sans"/>
              </a:defRPr>
            </a:pPr>
            <a:r>
              <a:t>Search entity, run, service...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088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92807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7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Simulate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9856" y="438912"/>
            <a:ext cx="1417320" cy="3200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5576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A0A0B"/>
                </a:solidFill>
                <a:latin typeface="IBM Plex San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0A0B"/>
                </a:solidFill>
                <a:latin typeface="IBM Plex Sans"/>
              </a:defRPr>
            </a:pPr>
            <a:r>
              <a:t>Promote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2624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8344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8344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5392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Monitor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Explain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10928" y="438912"/>
            <a:ext cx="1417320" cy="32004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45720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5486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Reconcile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822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JetBrains Mono"/>
              </a:defRPr>
            </a:pPr>
            <a:r>
              <a:t>Strategy Analytics  &gt;  Grid Results  &gt;  Selected Candidates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1005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IBM Plex Sans"/>
              </a:defRPr>
            </a:pPr>
            <a:r>
              <a:t>Surface 02 — Strategy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1325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IBM Plex Sans"/>
              </a:defRPr>
            </a:pPr>
            <a:r>
              <a:t>Catalogue -&gt; Backtests -&gt; DimensionalGrid -&gt; Select best -&gt; Promote to live. The quant's home.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1691640"/>
            <a:ext cx="3200400" cy="128016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7830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AFA"/>
                </a:solidFill>
                <a:latin typeface="IBM Plex Sans"/>
              </a:defRPr>
            </a:pPr>
            <a:r>
              <a:t>Strategy Catalogue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01168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IBM Plex Sans"/>
              </a:defRPr>
            </a:pPr>
            <a:r>
              <a:t>Group by archetype, filter by asset 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24028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IBM Plex Sans"/>
              </a:defRPr>
            </a:pPr>
            <a:r>
              <a:t>Yield (4)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44144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IBM Plex Sans"/>
              </a:defRPr>
            </a:pPr>
            <a:r>
              <a:t>Arbitrage (2)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264261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  <a:latin typeface="IBM Plex Sans"/>
              </a:defRPr>
            </a:pPr>
            <a:r>
              <a:t>Directional (3)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284378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IBM Plex Sans"/>
              </a:defRPr>
            </a:pPr>
            <a:r>
              <a:t>Market Making (3)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0" y="1691640"/>
            <a:ext cx="8229600" cy="365760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0" y="1783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DimensionalGrid — the killer feature for batch analysis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40480" y="2057400"/>
            <a:ext cx="914400" cy="256032"/>
          </a:xfrm>
          <a:prstGeom prst="roundRect">
            <a:avLst/>
          </a:prstGeom>
          <a:solidFill>
            <a:srgbClr val="0F2A2F"/>
          </a:solidFill>
          <a:ln w="9525">
            <a:solidFill>
              <a:srgbClr val="2F8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22D3EE"/>
                </a:solidFill>
                <a:latin typeface="IBM Plex Sans"/>
              </a:defRPr>
            </a:pPr>
            <a:r>
              <a:t>Instrument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0" y="2057400"/>
            <a:ext cx="914400" cy="256032"/>
          </a:xfrm>
          <a:prstGeom prst="roundRect">
            <a:avLst/>
          </a:prstGeom>
          <a:solidFill>
            <a:srgbClr val="0F2A2F"/>
          </a:solidFill>
          <a:ln w="9525">
            <a:solidFill>
              <a:srgbClr val="2F8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22D3EE"/>
                </a:solidFill>
                <a:latin typeface="IBM Plex Sans"/>
              </a:defRPr>
            </a:pPr>
            <a:r>
              <a:t>Venue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2057400"/>
            <a:ext cx="914400" cy="256032"/>
          </a:xfrm>
          <a:prstGeom prst="roundRect">
            <a:avLst/>
          </a:prstGeom>
          <a:solidFill>
            <a:srgbClr val="0F2A2F"/>
          </a:solidFill>
          <a:ln w="9525">
            <a:solidFill>
              <a:srgbClr val="2F8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22D3EE"/>
                </a:solidFill>
                <a:latin typeface="IBM Plex Sans"/>
              </a:defRPr>
            </a:pPr>
            <a:r>
              <a:t>Strategy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9440" y="2057400"/>
            <a:ext cx="914400" cy="256032"/>
          </a:xfrm>
          <a:prstGeom prst="roundRect">
            <a:avLst/>
          </a:prstGeom>
          <a:solidFill>
            <a:srgbClr val="0F2A2F"/>
          </a:solidFill>
          <a:ln w="9525">
            <a:solidFill>
              <a:srgbClr val="2F8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22D3EE"/>
                </a:solidFill>
                <a:latin typeface="IBM Plex Sans"/>
              </a:defRPr>
            </a:pPr>
            <a:r>
              <a:t>Date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2057400"/>
            <a:ext cx="914400" cy="256032"/>
          </a:xfrm>
          <a:prstGeom prst="roundRect">
            <a:avLst/>
          </a:prstGeom>
          <a:solidFill>
            <a:srgbClr val="0F2A2F"/>
          </a:solidFill>
          <a:ln w="9525">
            <a:solidFill>
              <a:srgbClr val="2F8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22D3EE"/>
                </a:solidFill>
                <a:latin typeface="IBM Plex Sans"/>
              </a:defRPr>
            </a:pPr>
            <a:r>
              <a:t>Config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2084831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JetBrains Mono"/>
              </a:defRPr>
            </a:pPr>
            <a:r>
              <a:t>Showing 47 of 1,203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24160" y="2057400"/>
            <a:ext cx="731520" cy="256032"/>
          </a:xfrm>
          <a:prstGeom prst="roundRect">
            <a:avLst/>
          </a:prstGeom>
          <a:solidFill>
            <a:srgbClr val="211B32"/>
          </a:solidFill>
          <a:ln w="9525">
            <a:solidFill>
              <a:srgbClr val="71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A78BFA"/>
                </a:solidFill>
                <a:latin typeface="IBM Plex Sans"/>
              </a:defRPr>
            </a:pPr>
            <a:r>
              <a:t>Heatmap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247120" y="2057400"/>
            <a:ext cx="548640" cy="256032"/>
          </a:xfrm>
          <a:prstGeom prst="roundRect">
            <a:avLst/>
          </a:prstGeom>
          <a:solidFill>
            <a:srgbClr val="202022"/>
          </a:solidFill>
          <a:ln w="9525">
            <a:solidFill>
              <a:srgbClr val="6E6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A1A1AA"/>
                </a:solidFill>
                <a:latin typeface="IBM Plex Sans"/>
              </a:defRPr>
            </a:pPr>
            <a:r>
              <a:t>Export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237744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525B"/>
                </a:solidFill>
                <a:latin typeface="IBM Plex Sans"/>
              </a:defRPr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237744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525B"/>
                </a:solidFill>
                <a:latin typeface="IBM Plex Sans"/>
              </a:defRPr>
            </a:pPr>
            <a:r>
              <a:t>Experiment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23774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525B"/>
                </a:solidFill>
                <a:latin typeface="IBM Plex Sans"/>
              </a:defRPr>
            </a:pPr>
            <a:r>
              <a:t>Strategy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237744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525B"/>
                </a:solidFill>
                <a:latin typeface="IBM Plex Sans"/>
              </a:defRPr>
            </a:pPr>
            <a:r>
              <a:t>Config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237744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525B"/>
                </a:solidFill>
                <a:latin typeface="IBM Plex Sans"/>
              </a:defRPr>
            </a:pPr>
            <a:r>
              <a:t>Venue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237744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525B"/>
                </a:solidFill>
                <a:latin typeface="IBM Plex Sans"/>
              </a:defRPr>
            </a:pPr>
            <a:r>
              <a:t>Shard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237744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525B"/>
                </a:solidFill>
                <a:latin typeface="IBM Plex Sans"/>
              </a:defRPr>
            </a:pPr>
            <a:r>
              <a:t>Sharpe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237744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525B"/>
                </a:solidFill>
                <a:latin typeface="IBM Plex Sans"/>
              </a:defRPr>
            </a:pPr>
            <a:r>
              <a:t>PnL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23774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525B"/>
                </a:solidFill>
                <a:latin typeface="IBM Plex Sans"/>
              </a:defRPr>
            </a:pPr>
            <a:r>
              <a:t>DD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237744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525B"/>
                </a:solidFill>
                <a:latin typeface="IBM Plex Sans"/>
              </a:defRPr>
            </a:pPr>
            <a:r>
              <a:t>Status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0" y="260604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[x]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260604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exp-221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26060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DEFI_ETH_BASIS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260604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3.3.0-rc1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0" y="260604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Bin/Hyper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63840" y="260604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2025Q4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0" y="260604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AFAFA"/>
                </a:solidFill>
                <a:latin typeface="JetBrains Mono"/>
              </a:defRPr>
            </a:pPr>
            <a:r>
              <a:t>2.1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0" y="260604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+$1.8m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26060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4.1%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260604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IBM Plex Sans"/>
              </a:defRPr>
            </a:pPr>
            <a:r>
              <a:t>selected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0480" y="2953512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[x]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0" y="29535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exp-301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0" y="295351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DEFI_ETH_STAKED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295351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2.5.0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32320" y="295351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EtherFi/HL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63840" y="295351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2026Q1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03920" y="295351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AFAFA"/>
                </a:solidFill>
                <a:latin typeface="JetBrains Mono"/>
              </a:defRPr>
            </a:pPr>
            <a:r>
              <a:t>2.5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295351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+$2.4m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92640" y="295351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3.3%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41280" y="295351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IBM Plex Sans"/>
              </a:defRPr>
            </a:pPr>
            <a:r>
              <a:t>selected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0480" y="3300984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[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0" y="330098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exp-222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0" y="330098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DEFI_ETH_BASIS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0" y="330098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3.3.0-rc2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32320" y="330098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Bin/OKX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63840" y="330098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2026Q1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03920" y="330098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AFAFA"/>
                </a:solidFill>
                <a:latin typeface="JetBrains Mono"/>
              </a:defRPr>
            </a:pPr>
            <a:r>
              <a:t>1.7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2560" y="330098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+$1.1m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92640" y="330098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5.1%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41280" y="330098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BBF24"/>
                </a:solidFill>
                <a:latin typeface="IBM Plex Sans"/>
              </a:defRPr>
            </a:pPr>
            <a:r>
              <a:t>review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0480" y="364845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[ 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0" y="364845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exp-711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0" y="364845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TRADFI_SPY_ML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0" y="3648456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5.1.2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32320" y="3648456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IBKR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63840" y="364845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2025H2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03920" y="364845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AFAFA"/>
                </a:solidFill>
                <a:latin typeface="JetBrains Mono"/>
              </a:defRPr>
            </a:pPr>
            <a:r>
              <a:t>1.3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0" y="364845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+$0.7m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692640" y="364845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6.8%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41280" y="364845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hold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40480" y="3995928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[x]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0" y="3995928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exp-402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200" y="399592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SPORTS_HT_ML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0" y="39959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JetBrains Mono"/>
              </a:defRPr>
            </a:pPr>
            <a:r>
              <a:t>2.1.0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32320" y="39959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Betfair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63840" y="399592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2026Q1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03920" y="399592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AFAFA"/>
                </a:solidFill>
                <a:latin typeface="JetBrains Mono"/>
              </a:defRPr>
            </a:pPr>
            <a:r>
              <a:t>1.6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52560" y="399592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+$0.3m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92640" y="399592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1.8%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41280" y="399592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IBM Plex Sans"/>
              </a:defRPr>
            </a:pPr>
            <a:r>
              <a:t>selected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840480" y="4434840"/>
            <a:ext cx="7863840" cy="365760"/>
          </a:xfrm>
          <a:prstGeom prst="roundRect">
            <a:avLst/>
          </a:prstGeom>
          <a:solidFill>
            <a:srgbClr val="111113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023360" y="4480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AFAFA"/>
                </a:solidFill>
                <a:latin typeface="IBM Plex Sans"/>
              </a:defRPr>
            </a:pPr>
            <a:r>
              <a:t>Selection: 3 configs   |   [Promote to Batch]   [Promote to Live]   [Export CSV]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74320" y="3200400"/>
            <a:ext cx="3200400" cy="21031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57200" y="3291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IBM Plex Sans"/>
              </a:defRPr>
            </a:pPr>
            <a:r>
              <a:t>Promotion Package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356616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  Source batch run + shard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376732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  Capacity estimate per instrument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7200" y="396849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  Max drawdown observed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416966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  Regime notes (trending/mean-rev)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437083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  Target environment (staging/live)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" y="457199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  Approval status + owner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48920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IBM Plex Sans"/>
              </a:defRPr>
            </a:pPr>
            <a:r>
              <a:t>Cross-link to Ops -&gt; /deploy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74320" y="5394960"/>
            <a:ext cx="11612880" cy="11887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54864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AFA"/>
                </a:solidFill>
                <a:latin typeface="IBM Plex Sans"/>
              </a:defRPr>
            </a:pPr>
            <a:r>
              <a:t>Key routes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57200" y="571500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/strategies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691640" y="571500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IBM Plex Sans"/>
              </a:defRPr>
            </a:pPr>
            <a:r>
              <a:t>Catalogue: filter by archetype + asset class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7200" y="597103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/strategies/:id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691640" y="597103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IBM Plex Sans"/>
              </a:defRPr>
            </a:pPr>
            <a:r>
              <a:t>Hub: Overview | Live | Backtest | Results | Execution | Deep Dive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7200" y="622706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/grid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91640" y="622706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IBM Plex Sans"/>
              </a:defRPr>
            </a:pPr>
            <a:r>
              <a:t>DimensionalGrid: slice by [strategy, instrument, venue, date, config]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97680" y="571500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/compare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532120" y="571500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IBM Plex Sans"/>
              </a:defRPr>
            </a:pPr>
            <a:r>
              <a:t>Overlay equity curves, rank by metric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97680" y="597103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/heatmap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532120" y="597103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IBM Plex Sans"/>
              </a:defRPr>
            </a:pPr>
            <a:r>
              <a:t>Two-dimension color matrix (instrument x algo -&gt; Sharpe)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297680" y="622706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/generate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532120" y="622706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IBM Plex Sans"/>
              </a:defRPr>
            </a:pPr>
            <a:r>
              <a:t>Config generator -&gt; mass deploy -&gt; progress tracking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38160" y="571500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/configs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372600" y="571500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IBM Plex Sans"/>
              </a:defRPr>
            </a:pPr>
            <a:r>
              <a:t>Browse all configs across strategies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138160" y="597103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/instruments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372600" y="597103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IBM Plex Sans"/>
              </a:defRPr>
            </a:pPr>
            <a:r>
              <a:t>Instrument definitions + data availability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138160" y="622706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/tick-data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372600" y="622706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IBM Plex Sans"/>
              </a:defRPr>
            </a:pPr>
            <a:r>
              <a:t>Market tick data explorer with candle/tick toggle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IBM Plex Sans"/>
              </a:defRPr>
            </a:pPr>
            <a:r>
              <a:t>Surfaces 03-04 — Markets +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Separate explanation from deployment. Connect them through entity links and correlation IDs.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669280" cy="502920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BM Plex Sans"/>
              </a:defRPr>
            </a:pPr>
            <a:r>
              <a:t>Market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Explain P&amp;L. Drill 5 levels. Reconcile residuals. Batch + live variants.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FAFA"/>
                </a:solidFill>
                <a:latin typeface="IBM Plex Sans"/>
              </a:defRPr>
            </a:pPr>
            <a:r>
              <a:t>P&amp;L Waterfall (real components per strategy 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Funding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286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+$412k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304288"/>
            <a:ext cx="2331720" cy="128016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Basis 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5146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+$355k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532888"/>
            <a:ext cx="1975104" cy="128016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Staking Yield (weETH)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7432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+$145k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761488"/>
            <a:ext cx="1097280" cy="128016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718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Delta PnL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9718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+$61k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990088"/>
            <a:ext cx="493776" cy="128016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Rewards (EIGEN)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2004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JetBrains Mono"/>
              </a:defRPr>
            </a:pPr>
            <a:r>
              <a:t>+$22k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218688"/>
            <a:ext cx="219456" cy="128016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290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Execution Slippage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429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  <a:latin typeface="JetBrains Mono"/>
              </a:defRPr>
            </a:pPr>
            <a:r>
              <a:t>-$61k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06624" y="3447288"/>
            <a:ext cx="493776" cy="128016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6576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Gas + Swap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6576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  <a:latin typeface="JetBrains Mono"/>
              </a:defRPr>
            </a:pPr>
            <a:r>
              <a:t>-$44k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43784" y="3675887"/>
            <a:ext cx="356616" cy="128016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8862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Recon Pending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8862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  <a:latin typeface="JetBrains Mono"/>
              </a:defRPr>
            </a:pPr>
            <a:r>
              <a:t>-$18k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35808" y="3904487"/>
            <a:ext cx="164592" cy="128016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2519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JetBrains Mono"/>
              </a:defRPr>
            </a:pPr>
            <a:r>
              <a:t>Drill path: All -&gt; Client -&gt; Strategy -&gt; Venue -&gt; Component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5720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FAFA"/>
                </a:solidFill>
                <a:latin typeface="IBM Plex Sans"/>
              </a:defRPr>
            </a:pPr>
            <a:r>
              <a:t>Batch vs Live Reconciliation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4632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  What backtest predicted vs what live executed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04748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  ML strategy signals vs actual fills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48655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  Execution service domain data comparison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49823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  Residual bucket links to open recon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650991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  Correlation ID traces across services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7607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JetBrains Mono"/>
              </a:defRPr>
            </a:pPr>
            <a:r>
              <a:t>Routes: /pnl, /pnl/client/:id, /pnl/strategy/:id,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9436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JetBrains Mono"/>
              </a:defRPr>
            </a:pPr>
            <a:r>
              <a:t>/desk, /orderbook, /latency, /recon, /reports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1280160"/>
            <a:ext cx="5303520" cy="502920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IBM Plex Sans"/>
              </a:defRPr>
            </a:pPr>
            <a:r>
              <a:t>Operations 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16916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Deploy, observe, diagnose. Never pretend to be the P&amp;L home.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2011680"/>
            <a:ext cx="4846320" cy="109728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2103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FAFA"/>
                </a:solidFill>
                <a:latin typeface="IBM Plex Sans"/>
              </a:defRPr>
            </a:pPr>
            <a:r>
              <a:t>Batch Summary + Data Completeness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23317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47 done  |  3 failed  |  12 running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260604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execution-service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60604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prod-tokyo v31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280720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features-delta-one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280720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prod-eu v17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300837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JetBrains Mono"/>
              </a:defRPr>
            </a:pPr>
            <a:r>
              <a:t>risk-and-exposure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300837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prod-eu v12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32918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FAFA"/>
                </a:solidFill>
                <a:latin typeface="IBM Plex Sans"/>
              </a:defRPr>
            </a:pPr>
            <a:r>
              <a:t>Sidebar navigation groups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35661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IBM Plex Sans"/>
              </a:defRPr>
            </a:pPr>
            <a:r>
              <a:t>DEPLOY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35661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Overview  |  Deploy Service  |  Services  |  Epics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38862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IBM Plex Sans"/>
              </a:defRPr>
            </a:pPr>
            <a:r>
              <a:t>OBSERVE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3886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Batch Jobs  |  Logs  |  Events  |  Data Health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42062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78BFA"/>
                </a:solidFill>
                <a:latin typeface="IBM Plex Sans"/>
              </a:defRPr>
            </a:pPr>
            <a:r>
              <a:t>COMPLIANCE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42062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Audit Trail  |  Compliance  |  CI/CD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0" y="4389120"/>
            <a:ext cx="4846320" cy="73152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66560" y="44348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IBM Plex Sans"/>
              </a:defRPr>
            </a:pPr>
            <a:r>
              <a:t>Event -&gt; Alert -&gt; Incident hierarchy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4663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JetBrains Mono"/>
              </a:defRPr>
            </a:pPr>
            <a:r>
              <a:t>Raw event (log_event()) -&gt; lands in GCS events/{svc}/{date}/events.jsonl</a:t>
            </a:r>
            <a:br/>
            <a:r>
              <a:t>If severity &gt;= threshold -&gt; Alert (Trading CC or Ops, by type)</a:t>
            </a:r>
            <a:br/>
            <a:r>
              <a:t>If escalated -&gt; Incident (kill switch, manual, auto-rules)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0" y="5212080"/>
            <a:ext cx="2286000" cy="64008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20840" y="52578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IBM Plex Sans"/>
              </a:defRPr>
            </a:pPr>
            <a:r>
              <a:t>Logs &amp; correlation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0840" y="5486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IBM Plex Sans"/>
              </a:defRPr>
            </a:pPr>
            <a:r>
              <a:t>Filter: service, severity,</a:t>
            </a:r>
            <a:br/>
            <a:r>
              <a:t>time, text, correlation_id</a:t>
            </a:r>
            <a:br/>
            <a:r>
              <a:t>Click corr_id -&gt; full trace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06840" y="5212080"/>
            <a:ext cx="2423160" cy="64008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0" y="52578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IBM Plex Sans"/>
              </a:defRPr>
            </a:pPr>
            <a:r>
              <a:t>Version alignment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5486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1A1AA"/>
                </a:solidFill>
                <a:latin typeface="IBM Plex Sans"/>
              </a:defRPr>
            </a:pPr>
            <a:r>
              <a:t>/services grid shows:</a:t>
            </a:r>
            <a:br/>
            <a:r>
              <a:t>deployed vs expected version</a:t>
            </a:r>
            <a:br/>
            <a:r>
              <a:t>drift = amber badge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83680" y="5989320"/>
            <a:ext cx="4846320" cy="50292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66560" y="6016752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IBM Plex Sans"/>
              </a:defRPr>
            </a:pPr>
            <a:r>
              <a:t>Grafana: SRE deep-dive only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6016752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1A1AA"/>
                </a:solidFill>
                <a:latin typeface="IBM Plex Sans"/>
              </a:defRPr>
            </a:pPr>
            <a:r>
              <a:t>All services are shared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0" y="61996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Service detail -&gt; 'Open in Grafana' (new tab, pre-filtered)  |  Sharding is logical (strategy_id, client_id), not physical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IBM Plex Sans"/>
              </a:defRPr>
            </a:pPr>
            <a:r>
              <a:t>Temporal universality — snapshot + time series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Every view that shows state supports two temporal modes. This is not a feature — it's an overarching design principle.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74320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IBM Plex Sans"/>
              </a:defRPr>
            </a:pPr>
            <a:r>
              <a:t>Point-in-time snapshot (the time machine)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Pick any datetime. See the exact state of the world at that moment. Same layout, same drill-down, just at a different point in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5029200" cy="45720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AsOfDatetimePicker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23160"/>
            <a:ext cx="731520" cy="256032"/>
          </a:xfrm>
          <a:prstGeom prst="roundRect">
            <a:avLst/>
          </a:prstGeom>
          <a:solidFill>
            <a:srgbClr val="0F2C19"/>
          </a:solidFill>
          <a:ln w="9525">
            <a:solidFill>
              <a:srgbClr val="438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4ADE80"/>
                </a:solidFill>
                <a:latin typeface="IBM Plex Sans"/>
              </a:defRPr>
            </a:pPr>
            <a: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423160"/>
            <a:ext cx="731520" cy="256032"/>
          </a:xfrm>
          <a:prstGeom prst="roundRect">
            <a:avLst/>
          </a:prstGeom>
          <a:solidFill>
            <a:srgbClr val="202022"/>
          </a:solidFill>
          <a:ln w="9525">
            <a:solidFill>
              <a:srgbClr val="6E6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A1A1AA"/>
                </a:solidFill>
                <a:latin typeface="IBM Plex Sans"/>
              </a:defRPr>
            </a:pPr>
            <a:r>
              <a:t>1h ago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423160"/>
            <a:ext cx="1097280" cy="256032"/>
          </a:xfrm>
          <a:prstGeom prst="roundRect">
            <a:avLst/>
          </a:prstGeom>
          <a:solidFill>
            <a:srgbClr val="202022"/>
          </a:solidFill>
          <a:ln w="9525">
            <a:solidFill>
              <a:srgbClr val="6E6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A1A1AA"/>
                </a:solidFill>
                <a:latin typeface="IBM Plex Sans"/>
              </a:defRPr>
            </a:pPr>
            <a:r>
              <a:t>Start of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423160"/>
            <a:ext cx="1097280" cy="256032"/>
          </a:xfrm>
          <a:prstGeom prst="roundRect">
            <a:avLst/>
          </a:prstGeom>
          <a:solidFill>
            <a:srgbClr val="202022"/>
          </a:solidFill>
          <a:ln w="9525">
            <a:solidFill>
              <a:srgbClr val="6E6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A1A1AA"/>
                </a:solidFill>
                <a:latin typeface="IBM Plex Sans"/>
              </a:defRPr>
            </a:pPr>
            <a:r>
              <a:t>Yesterday close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423160"/>
            <a:ext cx="1097280" cy="256032"/>
          </a:xfrm>
          <a:prstGeom prst="roundRect">
            <a:avLst/>
          </a:prstGeom>
          <a:solidFill>
            <a:srgbClr val="32260F"/>
          </a:solidFill>
          <a:ln w="9525">
            <a:solidFill>
              <a:srgbClr val="9B7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BBF24"/>
                </a:solidFill>
                <a:latin typeface="IBM Plex Sans"/>
              </a:defRPr>
            </a:pPr>
            <a:r>
              <a:t>2026-03-14 14:32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JetBrains Mono"/>
              </a:defRPr>
            </a:pPr>
            <a:r>
              <a:t>URL:  ?as_of=2026-03-14T14:32:00Z   (omitted = live, shareable, bookmarkable)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2377440" cy="73152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548640" cy="256032"/>
          </a:xfrm>
          <a:prstGeom prst="roundRect">
            <a:avLst/>
          </a:prstGeom>
          <a:solidFill>
            <a:srgbClr val="0F2C19"/>
          </a:solidFill>
          <a:ln w="9525">
            <a:solidFill>
              <a:srgbClr val="438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4ADE80"/>
                </a:solidFill>
                <a:latin typeface="IBM Plex Sans"/>
              </a:defRPr>
            </a:pPr>
            <a: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Firm PnL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JetBrains Mono"/>
              </a:defRPr>
            </a:pPr>
            <a:r>
              <a:t>+$1.42m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063240"/>
            <a:ext cx="2377440" cy="73152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91840" y="3108960"/>
            <a:ext cx="1188720" cy="256032"/>
          </a:xfrm>
          <a:prstGeom prst="roundRect">
            <a:avLst/>
          </a:prstGeom>
          <a:solidFill>
            <a:srgbClr val="32260F"/>
          </a:solidFill>
          <a:ln w="9525">
            <a:solidFill>
              <a:srgbClr val="9B7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BBF24"/>
                </a:solidFill>
                <a:latin typeface="IBM Plex Sans"/>
              </a:defRPr>
            </a:pPr>
            <a:r>
              <a:t>2026-03-14 14:32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3756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IBM Plex Sans"/>
              </a:defRPr>
            </a:pPr>
            <a:r>
              <a:t>Firm PnL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5204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JetBrains Mono"/>
              </a:defRPr>
            </a:pPr>
            <a:r>
              <a:t>+$0.89m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280160"/>
            <a:ext cx="5486400" cy="274320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IBM Plex Sans"/>
              </a:defRPr>
            </a:pPr>
            <a:r>
              <a:t>Time series (trajectory embedded inline)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Every KPI card shows a sparkline. Every table metric has a 'show over time' toggle. The trajectory matters as much as the value.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194560"/>
            <a:ext cx="2286000" cy="128016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2860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Firm PnL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JetBrains Mono"/>
              </a:defRPr>
            </a:pPr>
            <a:r>
              <a:t>+$1.42m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743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+0.8% 1d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3214116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25996" y="3172968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14032" y="3193542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02068" y="3090672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90104" y="3131820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78140" y="3049524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66176" y="2987802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58200" y="2967228"/>
            <a:ext cx="36576" cy="3657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337560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1d  1w  1m  3m  1y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2194560"/>
            <a:ext cx="2560320" cy="1280160"/>
          </a:xfrm>
          <a:prstGeom prst="roundRect">
            <a:avLst/>
          </a:prstGeom>
          <a:solidFill>
            <a:srgbClr val="1E1E22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2286000"/>
            <a:ext cx="2286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IBM Plex Sans"/>
              </a:defRPr>
            </a:pPr>
            <a:r>
              <a:t>Delta Exposure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JetBrains Mono"/>
              </a:defRPr>
            </a:pPr>
            <a:r>
              <a:t>$2.4m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2743200"/>
            <a:ext cx="2286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B"/>
                </a:solidFill>
                <a:latin typeface="JetBrains Mono"/>
              </a:defRPr>
            </a:pPr>
            <a:r>
              <a:t>net long</a:t>
            </a:r>
          </a:p>
        </p:txBody>
      </p:sp>
      <p:sp>
        <p:nvSpPr>
          <p:cNvPr id="43" name="Oval 42"/>
          <p:cNvSpPr/>
          <p:nvPr/>
        </p:nvSpPr>
        <p:spPr>
          <a:xfrm>
            <a:off x="9006840" y="3131820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22308" y="3049524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37776" y="3214116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53244" y="3008376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68712" y="3172968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84180" y="3070098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899648" y="3152394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109959" y="3090672"/>
            <a:ext cx="36576" cy="3657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3337560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2525B"/>
                </a:solidFill>
                <a:latin typeface="IBM Plex Sans"/>
              </a:defRPr>
            </a:pPr>
            <a:r>
              <a:t>1d  1w  1m  3m  1y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206240"/>
            <a:ext cx="11247120" cy="25603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297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IBM Plex Sans"/>
              </a:defRPr>
            </a:pPr>
            <a:r>
              <a:t>What gets snapshot + time series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5720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Domain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11680" y="45720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Snapshot (as-of 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45720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Time Series (over period)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4572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2525B"/>
                </a:solidFill>
                <a:latin typeface="IBM Plex Sans"/>
              </a:defRPr>
            </a:pPr>
            <a:r>
              <a:t>Canonical Home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8006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IBM Plex Sans"/>
              </a:defRPr>
            </a:pPr>
            <a:r>
              <a:t>Positions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11680" y="480060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Exact positions at 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0" y="480060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Position size evolution, entry/exit markers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48006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IBM Plex Sans"/>
              </a:defRPr>
            </a:pPr>
            <a:r>
              <a:t>Trading Command Center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0749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78BFA"/>
                </a:solidFill>
                <a:latin typeface="IBM Plex Sans"/>
              </a:defRPr>
            </a:pPr>
            <a:r>
              <a:t>P&amp;L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80" y="507492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Cumulative P&amp;L at T, attribution at 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9120" y="507492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Equity curve, daily bars, component evolution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5074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IBM Plex Sans"/>
              </a:defRPr>
            </a:pPr>
            <a:r>
              <a:t>Market Intelligence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53492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IBM Plex Sans"/>
              </a:defRPr>
            </a:pPr>
            <a:r>
              <a:t>Risk / Exposure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11680" y="534924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Delta/funding/basis/greeks at 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9120" y="534924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Exposure drift, margin trend, LTV evolution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5349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IBM Plex Sans"/>
              </a:defRPr>
            </a:pPr>
            <a:r>
              <a:t>Trading Command Center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5623559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  <a:latin typeface="IBM Plex Sans"/>
              </a:defRPr>
            </a:pPr>
            <a:r>
              <a:t>Alerts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11680" y="5623559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Which alerts were active at 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9120" y="562355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Alert frequency, resolution time trends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5623559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  <a:latin typeface="IBM Plex Sans"/>
              </a:defRPr>
            </a:pPr>
            <a:r>
              <a:t>Trading Command Center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5897879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IBM Plex Sans"/>
              </a:defRPr>
            </a:pPr>
            <a:r>
              <a:t>Strategy Status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11680" y="5897879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Which strategies live/paused at 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89120" y="589787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Lifecycle timeline (promoted, paused, killed)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0" y="5897879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A5FA"/>
                </a:solidFill>
                <a:latin typeface="IBM Plex Sans"/>
              </a:defRPr>
            </a:pPr>
            <a:r>
              <a:t>Strategy Analytics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6172199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IBM Plex Sans"/>
              </a:defRPr>
            </a:pPr>
            <a:r>
              <a:t>Feature Freshness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11680" y="6172199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SLA compliance at 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89120" y="617219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Freshness degradation, breach history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0" y="6172199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IBM Plex Sans"/>
              </a:defRPr>
            </a:pPr>
            <a:r>
              <a:t>Trading Command Center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6446519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78BFA"/>
                </a:solidFill>
                <a:latin typeface="IBM Plex Sans"/>
              </a:defRPr>
            </a:pPr>
            <a:r>
              <a:t>Orders / Fills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11680" y="6446519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Orders in flight at 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120" y="644651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Order flow over time, fill rate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0" y="6446519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IBM Plex Sans"/>
              </a:defRPr>
            </a:pPr>
            <a:r>
              <a:t>Market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IBM Plex Sans"/>
              </a:defRPr>
            </a:pPr>
            <a:r>
              <a:t>Implementation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IBM Plex Sans"/>
              </a:defRPr>
            </a:pPr>
            <a:r>
              <a:t>Build the shared language first, then collapse the duplicated surfaces behind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59436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IBM Plex Sans"/>
              </a:defRPr>
            </a:pPr>
            <a: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Shared ui-kit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813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GlobalNavBar, LifecycleRail, BreadcrumbNav, EntityLink, CrossLink, DimensionalGrid, FilterBar, SparklineCell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11247120" cy="59436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IBM Plex Sans"/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202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Remove /deployments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67127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Mount nav shell everywhere. Replace plain-text entities with deep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11247120" cy="59436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060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BM Plex Sans"/>
              </a:defRPr>
            </a:pPr>
            <a:r>
              <a:t>P2-P5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060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Collapse duplicate UIs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52927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Strategy merge (exec-analytics + strategy-ui). Ops merge (batch-audit + logs + deployment). Settlement merge.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46120"/>
            <a:ext cx="11247120" cy="59436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918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IBM Plex Sans"/>
              </a:defRPr>
            </a:pPr>
            <a:r>
              <a:t>P6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918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Canonical P&amp;L 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38727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5-level drill-down (All-&gt;Client-&gt;Strategy-&gt;Venue-&gt;Component). 6D attribution. Batch vs live recon.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11247120" cy="59436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776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IBM Plex Sans"/>
              </a:defRPr>
            </a:pPr>
            <a:r>
              <a:t>P7-P8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9776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Hardening + config 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24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IBM Plex Sans"/>
              </a:defRPr>
            </a:pPr>
            <a:r>
              <a:t>FilterBars + breadcrumbs across all surfaces. Accessibility. Real config generator wiring. E2E tests.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5486400" cy="16459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Foundational artifacts (already created)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canonical-surface-ownership.mdc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21208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Ownership table + overlap resolution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589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component-patterns.mdc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45896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Design tokens, AppShell, EntityLink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0585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cross-surface-navigation.mdc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70585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Entity routing map + URL param protocol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52744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ui-quality-gates.mdc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95274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8-gate standard: lint, types, vitest, build, a11y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99631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2D3EE"/>
                </a:solidFill>
                <a:latin typeface="JetBrains Mono"/>
              </a:defRPr>
            </a:pPr>
            <a:r>
              <a:t>dimensional-grid-spec.mdc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619963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Props, UX behavior, promotion flow, perf reqs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46320"/>
            <a:ext cx="5486400" cy="1645920"/>
          </a:xfrm>
          <a:prstGeom prst="roundRect">
            <a:avLst/>
          </a:prstGeom>
          <a:solidFill>
            <a:srgbClr val="1C1C1F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937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IBM Plex Sans"/>
              </a:defRPr>
            </a:pPr>
            <a:r>
              <a:t>What 'done' looks like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IBM Plex Sans"/>
              </a:defRPr>
            </a:pPr>
            <a:r>
              <a:t>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21208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One answer to 'what is happening right now?' — at any point in 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44068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One canonical P&amp;L home with 5-level drill-down + time series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66928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Risk limits shown as value vs threshold, highest util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8978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IBM Plex Sans"/>
              </a:defRPr>
            </a:pPr>
            <a:r>
              <a:t>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89788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150+ endpoints, 0 orphans — every API output has a UI home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612648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7 repos, 7 ports, zero duplicated routes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635508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IBM Plex Sans"/>
              </a:defRPr>
            </a:pPr>
            <a:r>
              <a:t>Sports/DeFi/CeFi/TradFi via FilterBar dimension, not separate surfaces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6583680"/>
            <a:ext cx="11247120" cy="228600"/>
          </a:xfrm>
          <a:prstGeom prst="roundRect">
            <a:avLst/>
          </a:prstGeom>
          <a:solidFill>
            <a:srgbClr val="111113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  <a:latin typeface="IBM Plex Sans"/>
              </a:defRPr>
            </a:pPr>
            <a:r>
              <a:t>The complexity stays. The navigation becomes legible: hierarchy, lifecycle, cross-linking.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