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redesign brief: “Unified Trading Platform — UI/UX Redesign Vision” (2026-03-17).
- User-provided plans referenced by the brief: opus_findings_ui, ui_consolidation_ux_hardening, ui_navigation_ux_model.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redesign brief: “Unified Trading Platform — UI/UX Redesign Vision” (2026-03-17).
- User-provided plans referenced by the brief: opus_findings_ui, ui_consolidation_ux_hardening, ui_navigation_ux_model.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redesign brief: “Unified Trading Platform — UI/UX Redesign Vision” (2026-03-17).
- User-provided plans referenced by the brief: opus_findings_ui, ui_consolidation_ux_hardening, ui_navigation_ux_model.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redesign brief: “Unified Trading Platform — UI/UX Redesign Vision” (2026-03-17).
- User-provided plans referenced by the brief: opus_findings_ui, ui_consolidation_ux_hardening, ui_navigation_ux_model.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redesign brief: “Unified Trading Platform — UI/UX Redesign Vision” (2026-03-17).
- User-provided plans referenced by the brief: opus_findings_ui, ui_consolidation_ux_hardening, ui_navigation_ux_model.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redesign brief: “Unified Trading Platform — UI/UX Redesign Vision” (2026-03-17).
- User-provided plans referenced by the brief: opus_findings_ui, ui_consolidation_ux_hardening, ui_navigation_ux_model.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redesign brief: “Unified Trading Platform — UI/UX Redesign Vision” (2026-03-17).
- User-provided plans referenced by the brief: opus_findings_ui, ui_consolidation_ux_hardening, ui_navigation_ux_model.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redesign brief: “Unified Trading Platform — UI/UX Redesign Vision” (2026-03-17).
- User-provided plans referenced by the brief: opus_findings_ui, ui_consolidation_ux_hardening, ui_navigation_ux_model.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3232" y="9875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Trading Platform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13232" y="14447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/ UX redesign vision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13232" y="178308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11 disconnected tools to 4 daily-use surfaces + 3 specialist tools — organized by hierarchy, lifecycle, and deep-linking.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13232" y="2322576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2372868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2026-03-17</a:t>
            </a:r>
            <a:endParaRPr lang="en-US" sz="820" dirty="0"/>
          </a:p>
        </p:txBody>
      </p:sp>
      <p:sp>
        <p:nvSpPr>
          <p:cNvPr id="8" name="Shape 5"/>
          <p:cNvSpPr/>
          <p:nvPr/>
        </p:nvSpPr>
        <p:spPr>
          <a:xfrm>
            <a:off x="2011680" y="2322576"/>
            <a:ext cx="1060704" cy="256032"/>
          </a:xfrm>
          <a:prstGeom prst="roundRect">
            <a:avLst>
              <a:gd name="adj" fmla="val 35714"/>
            </a:avLst>
          </a:prstGeom>
          <a:solidFill>
            <a:srgbClr val="4ADE80">
              <a:alpha val="14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84832" y="23728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3182112" y="2322576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60A5FA">
              <a:alpha val="14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55264" y="237286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+ Design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6675120" y="841248"/>
            <a:ext cx="4828032" cy="5349240"/>
          </a:xfrm>
          <a:prstGeom prst="roundRect">
            <a:avLst>
              <a:gd name="adj" fmla="val 1515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164592"/>
            <a:ext cx="11045952" cy="347472"/>
          </a:xfrm>
          <a:prstGeom prst="roundRect">
            <a:avLst>
              <a:gd name="adj" fmla="val 21053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10312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4ADE80">
              <a:alpha val="14000"/>
            </a:srgbClr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25603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Trading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1517904" y="25603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2487168" y="25603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78B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Markets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3200400" y="25603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Ops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913632" y="25603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4626864" y="25603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340096" y="25603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10222992" y="210312"/>
            <a:ext cx="1143000" cy="219456"/>
          </a:xfrm>
          <a:prstGeom prst="roundRect">
            <a:avLst>
              <a:gd name="adj" fmla="val 29167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60152" y="26060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⌕  Search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86384" y="9326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0976" y="9290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</a:t>
            </a:r>
            <a:endParaRPr lang="en-US" sz="810" dirty="0"/>
          </a:p>
        </p:txBody>
      </p:sp>
      <p:sp>
        <p:nvSpPr>
          <p:cNvPr id="26" name="Shape 23"/>
          <p:cNvSpPr/>
          <p:nvPr/>
        </p:nvSpPr>
        <p:spPr>
          <a:xfrm>
            <a:off x="1673352" y="9939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48256" y="9326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12848" y="9290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2935224" y="9939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10128" y="9326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74720" y="9290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</a:t>
            </a:r>
            <a:endParaRPr lang="en-US" sz="810" dirty="0"/>
          </a:p>
        </p:txBody>
      </p:sp>
      <p:sp>
        <p:nvSpPr>
          <p:cNvPr id="32" name="Shape 29"/>
          <p:cNvSpPr/>
          <p:nvPr/>
        </p:nvSpPr>
        <p:spPr>
          <a:xfrm>
            <a:off x="4197096" y="9939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0" y="93268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36592" y="9290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</a:t>
            </a:r>
            <a:endParaRPr lang="en-US" sz="810" dirty="0"/>
          </a:p>
        </p:txBody>
      </p:sp>
      <p:sp>
        <p:nvSpPr>
          <p:cNvPr id="35" name="Shape 32"/>
          <p:cNvSpPr/>
          <p:nvPr/>
        </p:nvSpPr>
        <p:spPr>
          <a:xfrm>
            <a:off x="5458968" y="9939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33872" y="9326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98464" y="9290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810" dirty="0"/>
          </a:p>
        </p:txBody>
      </p:sp>
      <p:sp>
        <p:nvSpPr>
          <p:cNvPr id="38" name="Shape 35"/>
          <p:cNvSpPr/>
          <p:nvPr/>
        </p:nvSpPr>
        <p:spPr>
          <a:xfrm>
            <a:off x="6720840" y="9939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095744" y="9326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60336" y="9290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</a:t>
            </a:r>
            <a:endParaRPr lang="en-US" sz="810" dirty="0"/>
          </a:p>
        </p:txBody>
      </p:sp>
      <p:sp>
        <p:nvSpPr>
          <p:cNvPr id="41" name="Shape 38"/>
          <p:cNvSpPr/>
          <p:nvPr/>
        </p:nvSpPr>
        <p:spPr>
          <a:xfrm>
            <a:off x="7982712" y="9939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57616" y="9326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522208" y="9290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Reconcile</a:t>
            </a:r>
            <a:endParaRPr lang="en-US" sz="810" dirty="0"/>
          </a:p>
        </p:txBody>
      </p:sp>
      <p:sp>
        <p:nvSpPr>
          <p:cNvPr id="44" name="Shape 41"/>
          <p:cNvSpPr/>
          <p:nvPr/>
        </p:nvSpPr>
        <p:spPr>
          <a:xfrm>
            <a:off x="749808" y="950976"/>
            <a:ext cx="5760720" cy="274320"/>
          </a:xfrm>
          <a:prstGeom prst="roundRect">
            <a:avLst>
              <a:gd name="adj" fmla="val 26667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7824" y="1014984"/>
            <a:ext cx="5440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Odum Delta One  &gt;  Blue Coast Capital  &gt;  BTC Basis v3  &gt;  cfg-3.2.1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7004304" y="1371600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150608" y="1481328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Firm PnL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7150608" y="164592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+$1.42m</a:t>
            </a:r>
            <a:endParaRPr lang="en-US" sz="1450" dirty="0"/>
          </a:p>
        </p:txBody>
      </p:sp>
      <p:sp>
        <p:nvSpPr>
          <p:cNvPr id="49" name="Text 46"/>
          <p:cNvSpPr/>
          <p:nvPr/>
        </p:nvSpPr>
        <p:spPr>
          <a:xfrm>
            <a:off x="7150608" y="1929384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▲ +0.8% 1d</a:t>
            </a:r>
            <a:endParaRPr lang="en-US" sz="740" dirty="0"/>
          </a:p>
        </p:txBody>
      </p:sp>
      <p:sp>
        <p:nvSpPr>
          <p:cNvPr id="50" name="Shape 47"/>
          <p:cNvSpPr/>
          <p:nvPr/>
        </p:nvSpPr>
        <p:spPr>
          <a:xfrm>
            <a:off x="8119872" y="1371600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66176" y="1481328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 Exp.</a:t>
            </a:r>
            <a:endParaRPr lang="en-US" sz="840" dirty="0"/>
          </a:p>
        </p:txBody>
      </p:sp>
      <p:sp>
        <p:nvSpPr>
          <p:cNvPr id="52" name="Text 49"/>
          <p:cNvSpPr/>
          <p:nvPr/>
        </p:nvSpPr>
        <p:spPr>
          <a:xfrm>
            <a:off x="8266176" y="164592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$4.2m</a:t>
            </a:r>
            <a:endParaRPr lang="en-US" sz="1450" dirty="0"/>
          </a:p>
        </p:txBody>
      </p:sp>
      <p:sp>
        <p:nvSpPr>
          <p:cNvPr id="53" name="Text 50"/>
          <p:cNvSpPr/>
          <p:nvPr/>
        </p:nvSpPr>
        <p:spPr>
          <a:xfrm>
            <a:off x="8266176" y="1929384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1.2x levered</a:t>
            </a:r>
            <a:endParaRPr lang="en-US" sz="740" dirty="0"/>
          </a:p>
        </p:txBody>
      </p:sp>
      <p:sp>
        <p:nvSpPr>
          <p:cNvPr id="54" name="Shape 51"/>
          <p:cNvSpPr/>
          <p:nvPr/>
        </p:nvSpPr>
        <p:spPr>
          <a:xfrm>
            <a:off x="9235440" y="1371600"/>
            <a:ext cx="987552" cy="7315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381744" y="1481328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Margin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9381744" y="164592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82%</a:t>
            </a:r>
            <a:endParaRPr lang="en-US" sz="1450" dirty="0"/>
          </a:p>
        </p:txBody>
      </p:sp>
      <p:sp>
        <p:nvSpPr>
          <p:cNvPr id="57" name="Text 54"/>
          <p:cNvSpPr/>
          <p:nvPr/>
        </p:nvSpPr>
        <p:spPr>
          <a:xfrm>
            <a:off x="9381744" y="1929384"/>
            <a:ext cx="6949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$340k free</a:t>
            </a:r>
            <a:endParaRPr lang="en-US" sz="740" dirty="0"/>
          </a:p>
        </p:txBody>
      </p:sp>
      <p:sp>
        <p:nvSpPr>
          <p:cNvPr id="58" name="Shape 55"/>
          <p:cNvSpPr/>
          <p:nvPr/>
        </p:nvSpPr>
        <p:spPr>
          <a:xfrm>
            <a:off x="10351008" y="1371600"/>
            <a:ext cx="822960" cy="7315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497312" y="148132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Alerts</a:t>
            </a:r>
            <a:endParaRPr lang="en-US" sz="840" dirty="0"/>
          </a:p>
        </p:txBody>
      </p:sp>
      <p:sp>
        <p:nvSpPr>
          <p:cNvPr id="60" name="Text 57"/>
          <p:cNvSpPr/>
          <p:nvPr/>
        </p:nvSpPr>
        <p:spPr>
          <a:xfrm>
            <a:off x="10497312" y="16459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50" dirty="0"/>
          </a:p>
        </p:txBody>
      </p:sp>
      <p:sp>
        <p:nvSpPr>
          <p:cNvPr id="61" name="Text 58"/>
          <p:cNvSpPr/>
          <p:nvPr/>
        </p:nvSpPr>
        <p:spPr>
          <a:xfrm>
            <a:off x="10497312" y="1929384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high</a:t>
            </a:r>
            <a:endParaRPr lang="en-US" sz="740" dirty="0"/>
          </a:p>
        </p:txBody>
      </p:sp>
      <p:sp>
        <p:nvSpPr>
          <p:cNvPr id="62" name="Shape 59"/>
          <p:cNvSpPr/>
          <p:nvPr/>
        </p:nvSpPr>
        <p:spPr>
          <a:xfrm>
            <a:off x="7004304" y="2286000"/>
            <a:ext cx="2212848" cy="2057400"/>
          </a:xfrm>
          <a:prstGeom prst="roundRect">
            <a:avLst>
              <a:gd name="adj" fmla="val 3556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168896" y="243230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5F7FA"/>
                </a:solidFill>
              </a:rPr>
              <a:t>Strategy performance</a:t>
            </a:r>
            <a:endParaRPr lang="en-US" sz="930" dirty="0"/>
          </a:p>
        </p:txBody>
      </p:sp>
      <p:sp>
        <p:nvSpPr>
          <p:cNvPr id="64" name="Text 61"/>
          <p:cNvSpPr/>
          <p:nvPr/>
        </p:nvSpPr>
        <p:spPr>
          <a:xfrm>
            <a:off x="7168896" y="270662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820" dirty="0"/>
          </a:p>
        </p:txBody>
      </p:sp>
      <p:sp>
        <p:nvSpPr>
          <p:cNvPr id="65" name="Text 62"/>
          <p:cNvSpPr/>
          <p:nvPr/>
        </p:nvSpPr>
        <p:spPr>
          <a:xfrm>
            <a:off x="7973568" y="27066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</a:t>
            </a:r>
            <a:endParaRPr lang="en-US" sz="820" dirty="0"/>
          </a:p>
        </p:txBody>
      </p:sp>
      <p:sp>
        <p:nvSpPr>
          <p:cNvPr id="66" name="Text 63"/>
          <p:cNvSpPr/>
          <p:nvPr/>
        </p:nvSpPr>
        <p:spPr>
          <a:xfrm>
            <a:off x="8302752" y="27066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PnL</a:t>
            </a:r>
            <a:endParaRPr lang="en-US" sz="820" dirty="0"/>
          </a:p>
        </p:txBody>
      </p:sp>
      <p:sp>
        <p:nvSpPr>
          <p:cNvPr id="67" name="Text 64"/>
          <p:cNvSpPr/>
          <p:nvPr/>
        </p:nvSpPr>
        <p:spPr>
          <a:xfrm>
            <a:off x="8741664" y="27066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</a:t>
            </a:r>
            <a:endParaRPr lang="en-US" sz="820" dirty="0"/>
          </a:p>
        </p:txBody>
      </p:sp>
      <p:sp>
        <p:nvSpPr>
          <p:cNvPr id="68" name="Text 65"/>
          <p:cNvSpPr/>
          <p:nvPr/>
        </p:nvSpPr>
        <p:spPr>
          <a:xfrm>
            <a:off x="9015984" y="27066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DD</a:t>
            </a:r>
            <a:endParaRPr lang="en-US" sz="820" dirty="0"/>
          </a:p>
        </p:txBody>
      </p:sp>
      <p:sp>
        <p:nvSpPr>
          <p:cNvPr id="69" name="Text 66"/>
          <p:cNvSpPr/>
          <p:nvPr/>
        </p:nvSpPr>
        <p:spPr>
          <a:xfrm>
            <a:off x="7168896" y="290779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BTC Basis v3</a:t>
            </a:r>
            <a:endParaRPr lang="en-US" sz="820" dirty="0"/>
          </a:p>
        </p:txBody>
      </p:sp>
      <p:sp>
        <p:nvSpPr>
          <p:cNvPr id="70" name="Text 67"/>
          <p:cNvSpPr/>
          <p:nvPr/>
        </p:nvSpPr>
        <p:spPr>
          <a:xfrm>
            <a:off x="7973568" y="29077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live</a:t>
            </a:r>
            <a:endParaRPr lang="en-US" sz="820" dirty="0"/>
          </a:p>
        </p:txBody>
      </p:sp>
      <p:sp>
        <p:nvSpPr>
          <p:cNvPr id="71" name="Text 68"/>
          <p:cNvSpPr/>
          <p:nvPr/>
        </p:nvSpPr>
        <p:spPr>
          <a:xfrm>
            <a:off x="8302752" y="290779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+$412k</a:t>
            </a:r>
            <a:endParaRPr lang="en-US" sz="820" dirty="0"/>
          </a:p>
        </p:txBody>
      </p:sp>
      <p:sp>
        <p:nvSpPr>
          <p:cNvPr id="72" name="Text 69"/>
          <p:cNvSpPr/>
          <p:nvPr/>
        </p:nvSpPr>
        <p:spPr>
          <a:xfrm>
            <a:off x="8741664" y="29077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2.1</a:t>
            </a:r>
            <a:endParaRPr lang="en-US" sz="820" dirty="0"/>
          </a:p>
        </p:txBody>
      </p:sp>
      <p:sp>
        <p:nvSpPr>
          <p:cNvPr id="73" name="Text 70"/>
          <p:cNvSpPr/>
          <p:nvPr/>
        </p:nvSpPr>
        <p:spPr>
          <a:xfrm>
            <a:off x="9015984" y="290779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4.1%</a:t>
            </a:r>
            <a:endParaRPr lang="en-US" sz="820" dirty="0"/>
          </a:p>
        </p:txBody>
      </p:sp>
      <p:sp>
        <p:nvSpPr>
          <p:cNvPr id="74" name="Text 71"/>
          <p:cNvSpPr/>
          <p:nvPr/>
        </p:nvSpPr>
        <p:spPr>
          <a:xfrm>
            <a:off x="7168896" y="316382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 Staked</a:t>
            </a:r>
            <a:endParaRPr lang="en-US" sz="820" dirty="0"/>
          </a:p>
        </p:txBody>
      </p:sp>
      <p:sp>
        <p:nvSpPr>
          <p:cNvPr id="75" name="Text 72"/>
          <p:cNvSpPr/>
          <p:nvPr/>
        </p:nvSpPr>
        <p:spPr>
          <a:xfrm>
            <a:off x="7973568" y="31638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live</a:t>
            </a:r>
            <a:endParaRPr lang="en-US" sz="820" dirty="0"/>
          </a:p>
        </p:txBody>
      </p:sp>
      <p:sp>
        <p:nvSpPr>
          <p:cNvPr id="76" name="Text 73"/>
          <p:cNvSpPr/>
          <p:nvPr/>
        </p:nvSpPr>
        <p:spPr>
          <a:xfrm>
            <a:off x="8302752" y="31638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+$289k</a:t>
            </a:r>
            <a:endParaRPr lang="en-US" sz="820" dirty="0"/>
          </a:p>
        </p:txBody>
      </p:sp>
      <p:sp>
        <p:nvSpPr>
          <p:cNvPr id="77" name="Text 74"/>
          <p:cNvSpPr/>
          <p:nvPr/>
        </p:nvSpPr>
        <p:spPr>
          <a:xfrm>
            <a:off x="8741664" y="31638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2.5</a:t>
            </a:r>
            <a:endParaRPr lang="en-US" sz="820" dirty="0"/>
          </a:p>
        </p:txBody>
      </p:sp>
      <p:sp>
        <p:nvSpPr>
          <p:cNvPr id="78" name="Text 75"/>
          <p:cNvSpPr/>
          <p:nvPr/>
        </p:nvSpPr>
        <p:spPr>
          <a:xfrm>
            <a:off x="9015984" y="31638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3.3%</a:t>
            </a:r>
            <a:endParaRPr lang="en-US" sz="820" dirty="0"/>
          </a:p>
        </p:txBody>
      </p:sp>
      <p:sp>
        <p:nvSpPr>
          <p:cNvPr id="79" name="Text 76"/>
          <p:cNvSpPr/>
          <p:nvPr/>
        </p:nvSpPr>
        <p:spPr>
          <a:xfrm>
            <a:off x="7168896" y="341985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 Direction</a:t>
            </a:r>
            <a:endParaRPr lang="en-US" sz="820" dirty="0"/>
          </a:p>
        </p:txBody>
      </p:sp>
      <p:sp>
        <p:nvSpPr>
          <p:cNvPr id="80" name="Text 77"/>
          <p:cNvSpPr/>
          <p:nvPr/>
        </p:nvSpPr>
        <p:spPr>
          <a:xfrm>
            <a:off x="7973568" y="34198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▲ watch</a:t>
            </a:r>
            <a:endParaRPr lang="en-US" sz="820" dirty="0"/>
          </a:p>
        </p:txBody>
      </p:sp>
      <p:sp>
        <p:nvSpPr>
          <p:cNvPr id="81" name="Text 78"/>
          <p:cNvSpPr/>
          <p:nvPr/>
        </p:nvSpPr>
        <p:spPr>
          <a:xfrm>
            <a:off x="8302752" y="34198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71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-$18k</a:t>
            </a:r>
            <a:endParaRPr lang="en-US" sz="820" dirty="0"/>
          </a:p>
        </p:txBody>
      </p:sp>
      <p:sp>
        <p:nvSpPr>
          <p:cNvPr id="82" name="Text 79"/>
          <p:cNvSpPr/>
          <p:nvPr/>
        </p:nvSpPr>
        <p:spPr>
          <a:xfrm>
            <a:off x="8741664" y="34198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0.9</a:t>
            </a:r>
            <a:endParaRPr lang="en-US" sz="820" dirty="0"/>
          </a:p>
        </p:txBody>
      </p:sp>
      <p:sp>
        <p:nvSpPr>
          <p:cNvPr id="83" name="Text 80"/>
          <p:cNvSpPr/>
          <p:nvPr/>
        </p:nvSpPr>
        <p:spPr>
          <a:xfrm>
            <a:off x="9015984" y="34198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6.8%</a:t>
            </a:r>
            <a:endParaRPr lang="en-US" sz="820" dirty="0"/>
          </a:p>
        </p:txBody>
      </p:sp>
      <p:sp>
        <p:nvSpPr>
          <p:cNvPr id="84" name="Text 81"/>
          <p:cNvSpPr/>
          <p:nvPr/>
        </p:nvSpPr>
        <p:spPr>
          <a:xfrm>
            <a:off x="7168896" y="367588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Sports Arb</a:t>
            </a:r>
            <a:endParaRPr lang="en-US" sz="820" dirty="0"/>
          </a:p>
        </p:txBody>
      </p:sp>
      <p:sp>
        <p:nvSpPr>
          <p:cNvPr id="85" name="Text 82"/>
          <p:cNvSpPr/>
          <p:nvPr/>
        </p:nvSpPr>
        <p:spPr>
          <a:xfrm>
            <a:off x="7973568" y="36758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live</a:t>
            </a:r>
            <a:endParaRPr lang="en-US" sz="820" dirty="0"/>
          </a:p>
        </p:txBody>
      </p:sp>
      <p:sp>
        <p:nvSpPr>
          <p:cNvPr id="86" name="Text 83"/>
          <p:cNvSpPr/>
          <p:nvPr/>
        </p:nvSpPr>
        <p:spPr>
          <a:xfrm>
            <a:off x="8302752" y="3675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+$44k</a:t>
            </a:r>
            <a:endParaRPr lang="en-US" sz="820" dirty="0"/>
          </a:p>
        </p:txBody>
      </p:sp>
      <p:sp>
        <p:nvSpPr>
          <p:cNvPr id="87" name="Text 84"/>
          <p:cNvSpPr/>
          <p:nvPr/>
        </p:nvSpPr>
        <p:spPr>
          <a:xfrm>
            <a:off x="8741664" y="36758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1.6</a:t>
            </a:r>
            <a:endParaRPr lang="en-US" sz="820" dirty="0"/>
          </a:p>
        </p:txBody>
      </p:sp>
      <p:sp>
        <p:nvSpPr>
          <p:cNvPr id="88" name="Text 85"/>
          <p:cNvSpPr/>
          <p:nvPr/>
        </p:nvSpPr>
        <p:spPr>
          <a:xfrm>
            <a:off x="9015984" y="36758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1.8%</a:t>
            </a:r>
            <a:endParaRPr lang="en-US" sz="820" dirty="0"/>
          </a:p>
        </p:txBody>
      </p:sp>
      <p:sp>
        <p:nvSpPr>
          <p:cNvPr id="89" name="Shape 86"/>
          <p:cNvSpPr/>
          <p:nvPr/>
        </p:nvSpPr>
        <p:spPr>
          <a:xfrm>
            <a:off x="9381744" y="2286000"/>
            <a:ext cx="1828800" cy="2057400"/>
          </a:xfrm>
          <a:prstGeom prst="roundRect">
            <a:avLst>
              <a:gd name="adj" fmla="val 4000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9546336" y="24323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5F7FA"/>
                </a:solidFill>
              </a:rPr>
              <a:t>P&amp;L + risk attribution</a:t>
            </a:r>
            <a:endParaRPr lang="en-US" sz="930" dirty="0"/>
          </a:p>
        </p:txBody>
      </p:sp>
      <p:sp>
        <p:nvSpPr>
          <p:cNvPr id="91" name="Text 88"/>
          <p:cNvSpPr/>
          <p:nvPr/>
        </p:nvSpPr>
        <p:spPr>
          <a:xfrm>
            <a:off x="9546336" y="27066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Bucket</a:t>
            </a:r>
            <a:endParaRPr lang="en-US" sz="820" dirty="0"/>
          </a:p>
        </p:txBody>
      </p:sp>
      <p:sp>
        <p:nvSpPr>
          <p:cNvPr id="92" name="Text 89"/>
          <p:cNvSpPr/>
          <p:nvPr/>
        </p:nvSpPr>
        <p:spPr>
          <a:xfrm>
            <a:off x="10094976" y="27066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P&amp;L</a:t>
            </a:r>
            <a:endParaRPr lang="en-US" sz="820" dirty="0"/>
          </a:p>
        </p:txBody>
      </p:sp>
      <p:sp>
        <p:nvSpPr>
          <p:cNvPr id="93" name="Text 90"/>
          <p:cNvSpPr/>
          <p:nvPr/>
        </p:nvSpPr>
        <p:spPr>
          <a:xfrm>
            <a:off x="10533888" y="270662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</a:t>
            </a:r>
            <a:endParaRPr lang="en-US" sz="820" dirty="0"/>
          </a:p>
        </p:txBody>
      </p:sp>
      <p:sp>
        <p:nvSpPr>
          <p:cNvPr id="94" name="Text 91"/>
          <p:cNvSpPr/>
          <p:nvPr/>
        </p:nvSpPr>
        <p:spPr>
          <a:xfrm>
            <a:off x="9546336" y="2907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Funding</a:t>
            </a:r>
            <a:endParaRPr lang="en-US" sz="820" dirty="0"/>
          </a:p>
        </p:txBody>
      </p:sp>
      <p:sp>
        <p:nvSpPr>
          <p:cNvPr id="95" name="Text 92"/>
          <p:cNvSpPr/>
          <p:nvPr/>
        </p:nvSpPr>
        <p:spPr>
          <a:xfrm>
            <a:off x="10094976" y="290779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+$412k</a:t>
            </a:r>
            <a:endParaRPr lang="en-US" sz="820" dirty="0"/>
          </a:p>
        </p:txBody>
      </p:sp>
      <p:sp>
        <p:nvSpPr>
          <p:cNvPr id="96" name="Text 93"/>
          <p:cNvSpPr/>
          <p:nvPr/>
        </p:nvSpPr>
        <p:spPr>
          <a:xfrm>
            <a:off x="10533888" y="29077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$8.2m</a:t>
            </a:r>
            <a:endParaRPr lang="en-US" sz="820" dirty="0"/>
          </a:p>
        </p:txBody>
      </p:sp>
      <p:sp>
        <p:nvSpPr>
          <p:cNvPr id="97" name="Text 94"/>
          <p:cNvSpPr/>
          <p:nvPr/>
        </p:nvSpPr>
        <p:spPr>
          <a:xfrm>
            <a:off x="9546336" y="31638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Basis</a:t>
            </a:r>
            <a:endParaRPr lang="en-US" sz="820" dirty="0"/>
          </a:p>
        </p:txBody>
      </p:sp>
      <p:sp>
        <p:nvSpPr>
          <p:cNvPr id="98" name="Text 95"/>
          <p:cNvSpPr/>
          <p:nvPr/>
        </p:nvSpPr>
        <p:spPr>
          <a:xfrm>
            <a:off x="10094976" y="316382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+$355k</a:t>
            </a:r>
            <a:endParaRPr lang="en-US" sz="820" dirty="0"/>
          </a:p>
        </p:txBody>
      </p:sp>
      <p:sp>
        <p:nvSpPr>
          <p:cNvPr id="99" name="Text 96"/>
          <p:cNvSpPr/>
          <p:nvPr/>
        </p:nvSpPr>
        <p:spPr>
          <a:xfrm>
            <a:off x="10533888" y="316382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bps</a:t>
            </a:r>
            <a:endParaRPr lang="en-US" sz="820" dirty="0"/>
          </a:p>
        </p:txBody>
      </p:sp>
      <p:sp>
        <p:nvSpPr>
          <p:cNvPr id="100" name="Text 97"/>
          <p:cNvSpPr/>
          <p:nvPr/>
        </p:nvSpPr>
        <p:spPr>
          <a:xfrm>
            <a:off x="9546336" y="341985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Staking</a:t>
            </a:r>
            <a:endParaRPr lang="en-US" sz="820" dirty="0"/>
          </a:p>
        </p:txBody>
      </p:sp>
      <p:sp>
        <p:nvSpPr>
          <p:cNvPr id="101" name="Text 98"/>
          <p:cNvSpPr/>
          <p:nvPr/>
        </p:nvSpPr>
        <p:spPr>
          <a:xfrm>
            <a:off x="10094976" y="34198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+$145k</a:t>
            </a:r>
            <a:endParaRPr lang="en-US" sz="820" dirty="0"/>
          </a:p>
        </p:txBody>
      </p:sp>
      <p:sp>
        <p:nvSpPr>
          <p:cNvPr id="102" name="Text 99"/>
          <p:cNvSpPr/>
          <p:nvPr/>
        </p:nvSpPr>
        <p:spPr>
          <a:xfrm>
            <a:off x="10533888" y="34198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LTV .72</a:t>
            </a:r>
            <a:endParaRPr lang="en-US" sz="820" dirty="0"/>
          </a:p>
        </p:txBody>
      </p:sp>
      <p:sp>
        <p:nvSpPr>
          <p:cNvPr id="103" name="Text 100"/>
          <p:cNvSpPr/>
          <p:nvPr/>
        </p:nvSpPr>
        <p:spPr>
          <a:xfrm>
            <a:off x="9546336" y="3675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Delta</a:t>
            </a:r>
            <a:endParaRPr lang="en-US" sz="820" dirty="0"/>
          </a:p>
        </p:txBody>
      </p:sp>
      <p:sp>
        <p:nvSpPr>
          <p:cNvPr id="104" name="Text 101"/>
          <p:cNvSpPr/>
          <p:nvPr/>
        </p:nvSpPr>
        <p:spPr>
          <a:xfrm>
            <a:off x="10094976" y="36758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+$61k</a:t>
            </a:r>
            <a:endParaRPr lang="en-US" sz="820" dirty="0"/>
          </a:p>
        </p:txBody>
      </p:sp>
      <p:sp>
        <p:nvSpPr>
          <p:cNvPr id="105" name="Text 102"/>
          <p:cNvSpPr/>
          <p:nvPr/>
        </p:nvSpPr>
        <p:spPr>
          <a:xfrm>
            <a:off x="10533888" y="367588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$2.4m</a:t>
            </a:r>
            <a:endParaRPr lang="en-US" sz="820" dirty="0"/>
          </a:p>
        </p:txBody>
      </p:sp>
      <p:sp>
        <p:nvSpPr>
          <p:cNvPr id="106" name="Text 103"/>
          <p:cNvSpPr/>
          <p:nvPr/>
        </p:nvSpPr>
        <p:spPr>
          <a:xfrm>
            <a:off x="9546336" y="39319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Slippage</a:t>
            </a:r>
            <a:endParaRPr lang="en-US" sz="820" dirty="0"/>
          </a:p>
        </p:txBody>
      </p:sp>
      <p:sp>
        <p:nvSpPr>
          <p:cNvPr id="107" name="Text 104"/>
          <p:cNvSpPr/>
          <p:nvPr/>
        </p:nvSpPr>
        <p:spPr>
          <a:xfrm>
            <a:off x="10094976" y="39319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71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-$61k</a:t>
            </a:r>
            <a:endParaRPr lang="en-US" sz="820" dirty="0"/>
          </a:p>
        </p:txBody>
      </p:sp>
      <p:sp>
        <p:nvSpPr>
          <p:cNvPr id="108" name="Text 105"/>
          <p:cNvSpPr/>
          <p:nvPr/>
        </p:nvSpPr>
        <p:spPr>
          <a:xfrm>
            <a:off x="10533888" y="39319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820" dirty="0"/>
          </a:p>
        </p:txBody>
      </p:sp>
      <p:sp>
        <p:nvSpPr>
          <p:cNvPr id="109" name="Text 106"/>
          <p:cNvSpPr/>
          <p:nvPr/>
        </p:nvSpPr>
        <p:spPr>
          <a:xfrm>
            <a:off x="9546336" y="4187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</a:t>
            </a:r>
            <a:endParaRPr lang="en-US" sz="820" dirty="0"/>
          </a:p>
        </p:txBody>
      </p:sp>
      <p:sp>
        <p:nvSpPr>
          <p:cNvPr id="110" name="Text 107"/>
          <p:cNvSpPr/>
          <p:nvPr/>
        </p:nvSpPr>
        <p:spPr>
          <a:xfrm>
            <a:off x="10094976" y="41879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71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-$18k</a:t>
            </a:r>
            <a:endParaRPr lang="en-US" sz="820" dirty="0"/>
          </a:p>
        </p:txBody>
      </p:sp>
      <p:sp>
        <p:nvSpPr>
          <p:cNvPr id="111" name="Text 108"/>
          <p:cNvSpPr/>
          <p:nvPr/>
        </p:nvSpPr>
        <p:spPr>
          <a:xfrm>
            <a:off x="10533888" y="418795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brks</a:t>
            </a:r>
            <a:endParaRPr lang="en-US" sz="820" dirty="0"/>
          </a:p>
        </p:txBody>
      </p:sp>
      <p:sp>
        <p:nvSpPr>
          <p:cNvPr id="112" name="Shape 109"/>
          <p:cNvSpPr/>
          <p:nvPr/>
        </p:nvSpPr>
        <p:spPr>
          <a:xfrm>
            <a:off x="7004304" y="4553712"/>
            <a:ext cx="2212848" cy="1234440"/>
          </a:xfrm>
          <a:prstGeom prst="roundRect">
            <a:avLst>
              <a:gd name="adj" fmla="val 5926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7168896" y="47000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F7FA"/>
                </a:solidFill>
              </a:rPr>
              <a:t>Alerts &amp; incidents</a:t>
            </a:r>
            <a:endParaRPr lang="en-US" sz="920" dirty="0"/>
          </a:p>
        </p:txBody>
      </p:sp>
      <p:sp>
        <p:nvSpPr>
          <p:cNvPr id="114" name="Text 111"/>
          <p:cNvSpPr/>
          <p:nvPr/>
        </p:nvSpPr>
        <p:spPr>
          <a:xfrm>
            <a:off x="7168896" y="49560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● CRIT  Kill switch armed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▲ HIGH  Feature freshness lag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▲ MED   Recon break</a:t>
            </a:r>
            <a:endParaRPr lang="en-US" sz="840" dirty="0"/>
          </a:p>
        </p:txBody>
      </p:sp>
      <p:sp>
        <p:nvSpPr>
          <p:cNvPr id="115" name="Shape 112"/>
          <p:cNvSpPr/>
          <p:nvPr/>
        </p:nvSpPr>
        <p:spPr>
          <a:xfrm>
            <a:off x="9381744" y="4553712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546336" y="47000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5F7FA"/>
                </a:solidFill>
              </a:rPr>
              <a:t>Health &amp; freshness</a:t>
            </a:r>
            <a:endParaRPr lang="en-US" sz="920" dirty="0"/>
          </a:p>
        </p:txBody>
      </p:sp>
      <p:sp>
        <p:nvSpPr>
          <p:cNvPr id="117" name="Text 114"/>
          <p:cNvSpPr/>
          <p:nvPr/>
        </p:nvSpPr>
        <p:spPr>
          <a:xfrm>
            <a:off x="9546336" y="49560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features-d1   92s  ▲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execution      2s   ●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risk-exp       4s   ●</a:t>
            </a:r>
            <a:endParaRPr lang="en-US" sz="820" dirty="0"/>
          </a:p>
        </p:txBody>
      </p:sp>
      <p:sp>
        <p:nvSpPr>
          <p:cNvPr id="118" name="Text 115"/>
          <p:cNvSpPr/>
          <p:nvPr/>
        </p:nvSpPr>
        <p:spPr>
          <a:xfrm>
            <a:off x="713232" y="59253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Visual theme stays institutional. The change is structural: canonical homes, visible lifecycle, and zero dead-end entities.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3891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core insight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palette is already strong. The problem is information architecture.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8368" y="1261872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481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Before: 11 isolated UIs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41248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3A3B2"/>
                </a:solidFill>
              </a:rPr>
              <a:t>Duplicate deployments. Duplicate P&amp;L. Duplicate alerts. Manual port-hopping.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914400" y="224028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2441448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strategy-ui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2651760" y="210312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61488" y="2304288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exec analytics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4297680" y="2304288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07408" y="2505456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trading analytics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1115568" y="3154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25296" y="3355848"/>
            <a:ext cx="1042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deployment-ui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2743200" y="3090672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52928" y="329184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logs dashboard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4315968" y="3236976"/>
            <a:ext cx="1152144" cy="566928"/>
          </a:xfrm>
          <a:prstGeom prst="roundRect">
            <a:avLst>
              <a:gd name="adj" fmla="val 12903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25696" y="3438144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batch audit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1051560" y="4096512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1288" y="4297680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onboarding-ui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2724912" y="42245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34640" y="4425696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client reporting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4407408" y="4059936"/>
            <a:ext cx="969264" cy="566928"/>
          </a:xfrm>
          <a:prstGeom prst="roundRect">
            <a:avLst>
              <a:gd name="adj" fmla="val 12903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17136" y="4261104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settlement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2331720" y="2523744"/>
            <a:ext cx="329184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4114800" y="2377440"/>
            <a:ext cx="25603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2395728" y="3438144"/>
            <a:ext cx="347472" cy="-91440"/>
          </a:xfrm>
          <a:prstGeom prst="line">
            <a:avLst/>
          </a:prstGeom>
          <a:noFill/>
          <a:ln w="12700">
            <a:solidFill>
              <a:srgbClr val="26262B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4187952" y="3429000"/>
            <a:ext cx="164592" cy="36576"/>
          </a:xfrm>
          <a:prstGeom prst="line">
            <a:avLst/>
          </a:prstGeom>
          <a:noFill/>
          <a:ln w="12700">
            <a:solidFill>
              <a:srgbClr val="26262B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2395728" y="4343400"/>
            <a:ext cx="310896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4078224" y="4352544"/>
            <a:ext cx="292608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2011680" y="2798064"/>
            <a:ext cx="-685800" cy="347472"/>
          </a:xfrm>
          <a:prstGeom prst="line">
            <a:avLst/>
          </a:prstGeom>
          <a:noFill/>
          <a:ln w="12700">
            <a:solidFill>
              <a:srgbClr val="26262B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4443984" y="2816352"/>
            <a:ext cx="-109728" cy="457200"/>
          </a:xfrm>
          <a:prstGeom prst="line">
            <a:avLst/>
          </a:prstGeom>
          <a:noFill/>
          <a:ln w="12700">
            <a:solidFill>
              <a:srgbClr val="26262B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841248" y="51023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</a:rPr>
              <a:t>No workflow coherence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</a:rPr>
              <a:t>No entity hierarchy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</a:rPr>
              <a:t>No cross-UI navigation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236208" y="1261872"/>
            <a:ext cx="5321808" cy="4937760"/>
          </a:xfrm>
          <a:prstGeom prst="roundRect">
            <a:avLst>
              <a:gd name="adj" fmla="val 1481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19088" y="14813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After: one operating model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419088" y="1773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3A3B2"/>
                </a:solidFill>
              </a:rPr>
              <a:t>4 daily-use surfaces + 3 specialist tools, connected by hierarchy, lifecycle, and deep links.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6492240" y="2240280"/>
            <a:ext cx="2331720" cy="768096"/>
          </a:xfrm>
          <a:prstGeom prst="roundRect">
            <a:avLst>
              <a:gd name="adj" fmla="val 9524"/>
            </a:avLst>
          </a:prstGeom>
          <a:solidFill>
            <a:srgbClr val="4ADE80">
              <a:alpha val="12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56832" y="242316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Trading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Command Center</a:t>
            </a:r>
            <a:endParaRPr lang="en-US" sz="1280" dirty="0"/>
          </a:p>
        </p:txBody>
      </p:sp>
      <p:sp>
        <p:nvSpPr>
          <p:cNvPr id="40" name="Shape 37"/>
          <p:cNvSpPr/>
          <p:nvPr/>
        </p:nvSpPr>
        <p:spPr>
          <a:xfrm>
            <a:off x="9098280" y="2240280"/>
            <a:ext cx="2103120" cy="768096"/>
          </a:xfrm>
          <a:prstGeom prst="roundRect">
            <a:avLst>
              <a:gd name="adj" fmla="val 9524"/>
            </a:avLst>
          </a:prstGeom>
          <a:solidFill>
            <a:srgbClr val="60A5FA">
              <a:alpha val="12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262872" y="242316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Strategy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Analytics</a:t>
            </a:r>
            <a:endParaRPr lang="en-US" sz="1280" dirty="0"/>
          </a:p>
        </p:txBody>
      </p:sp>
      <p:sp>
        <p:nvSpPr>
          <p:cNvPr id="42" name="Shape 39"/>
          <p:cNvSpPr/>
          <p:nvPr/>
        </p:nvSpPr>
        <p:spPr>
          <a:xfrm>
            <a:off x="6492240" y="3255264"/>
            <a:ext cx="2331720" cy="768096"/>
          </a:xfrm>
          <a:prstGeom prst="roundRect">
            <a:avLst>
              <a:gd name="adj" fmla="val 9524"/>
            </a:avLst>
          </a:prstGeom>
          <a:solidFill>
            <a:srgbClr val="A78BFA">
              <a:alpha val="12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56832" y="3438144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Market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Intelligence</a:t>
            </a:r>
            <a:endParaRPr lang="en-US" sz="1280" dirty="0"/>
          </a:p>
        </p:txBody>
      </p:sp>
      <p:sp>
        <p:nvSpPr>
          <p:cNvPr id="44" name="Shape 41"/>
          <p:cNvSpPr/>
          <p:nvPr/>
        </p:nvSpPr>
        <p:spPr>
          <a:xfrm>
            <a:off x="9098280" y="3255264"/>
            <a:ext cx="2103120" cy="768096"/>
          </a:xfrm>
          <a:prstGeom prst="roundRect">
            <a:avLst>
              <a:gd name="adj" fmla="val 9524"/>
            </a:avLst>
          </a:prstGeom>
          <a:solidFill>
            <a:srgbClr val="FBBF24">
              <a:alpha val="12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262872" y="343814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Operations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Hub</a:t>
            </a:r>
            <a:endParaRPr lang="en-US" sz="1280" dirty="0"/>
          </a:p>
        </p:txBody>
      </p:sp>
      <p:sp>
        <p:nvSpPr>
          <p:cNvPr id="46" name="Shape 43"/>
          <p:cNvSpPr/>
          <p:nvPr/>
        </p:nvSpPr>
        <p:spPr>
          <a:xfrm>
            <a:off x="6720840" y="459028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93992" y="474573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5F7FA"/>
                </a:solidFill>
              </a:rPr>
              <a:t>Config</a:t>
            </a:r>
            <a:endParaRPr lang="en-US" sz="920" dirty="0"/>
          </a:p>
        </p:txBody>
      </p:sp>
      <p:sp>
        <p:nvSpPr>
          <p:cNvPr id="48" name="Shape 45"/>
          <p:cNvSpPr/>
          <p:nvPr/>
        </p:nvSpPr>
        <p:spPr>
          <a:xfrm>
            <a:off x="8366760" y="4590288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60A5FA">
              <a:alpha val="1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439912" y="4745736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5F7FA"/>
                </a:solidFill>
              </a:rPr>
              <a:t>ML</a:t>
            </a:r>
            <a:endParaRPr lang="en-US" sz="920" dirty="0"/>
          </a:p>
        </p:txBody>
      </p:sp>
      <p:sp>
        <p:nvSpPr>
          <p:cNvPr id="50" name="Shape 47"/>
          <p:cNvSpPr/>
          <p:nvPr/>
        </p:nvSpPr>
        <p:spPr>
          <a:xfrm>
            <a:off x="9692640" y="4590288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A3A3B2">
              <a:alpha val="10000"/>
            </a:srgbClr>
          </a:solidFill>
          <a:ln w="12700">
            <a:solidFill>
              <a:srgbClr val="A3A3B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765792" y="4745736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5F7FA"/>
                </a:solidFill>
              </a:rPr>
              <a:t>Reports</a:t>
            </a:r>
            <a:endParaRPr lang="en-US" sz="920" dirty="0"/>
          </a:p>
        </p:txBody>
      </p:sp>
      <p:sp>
        <p:nvSpPr>
          <p:cNvPr id="52" name="Shape 49"/>
          <p:cNvSpPr/>
          <p:nvPr/>
        </p:nvSpPr>
        <p:spPr>
          <a:xfrm>
            <a:off x="7635240" y="3008376"/>
            <a:ext cx="0" cy="246888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149840" y="3008376"/>
            <a:ext cx="0" cy="246888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823960" y="2624328"/>
            <a:ext cx="27432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23960" y="3639312"/>
            <a:ext cx="27432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443216" y="4023360"/>
            <a:ext cx="137160" cy="566928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62288" y="4023360"/>
            <a:ext cx="0" cy="566928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698480" y="4023360"/>
            <a:ext cx="-91440" cy="566928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473952" y="5340096"/>
            <a:ext cx="1225296" cy="256032"/>
          </a:xfrm>
          <a:prstGeom prst="roundRect">
            <a:avLst>
              <a:gd name="adj" fmla="val 35714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47104" y="539038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Hierarchy</a:t>
            </a:r>
            <a:endParaRPr lang="en-US" sz="820" dirty="0"/>
          </a:p>
        </p:txBody>
      </p:sp>
      <p:sp>
        <p:nvSpPr>
          <p:cNvPr id="61" name="Shape 58"/>
          <p:cNvSpPr/>
          <p:nvPr/>
        </p:nvSpPr>
        <p:spPr>
          <a:xfrm>
            <a:off x="7808976" y="5340096"/>
            <a:ext cx="1115568" cy="256032"/>
          </a:xfrm>
          <a:prstGeom prst="roundRect">
            <a:avLst>
              <a:gd name="adj" fmla="val 35714"/>
            </a:avLst>
          </a:prstGeom>
          <a:solidFill>
            <a:srgbClr val="4ADE80">
              <a:alpha val="12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390388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Lifecycle</a:t>
            </a:r>
            <a:endParaRPr lang="en-US" sz="820" dirty="0"/>
          </a:p>
        </p:txBody>
      </p:sp>
      <p:sp>
        <p:nvSpPr>
          <p:cNvPr id="63" name="Shape 60"/>
          <p:cNvSpPr/>
          <p:nvPr/>
        </p:nvSpPr>
        <p:spPr>
          <a:xfrm>
            <a:off x="9034272" y="5340096"/>
            <a:ext cx="1426464" cy="256032"/>
          </a:xfrm>
          <a:prstGeom prst="roundRect">
            <a:avLst>
              <a:gd name="adj" fmla="val 35714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107424" y="539038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78B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Cross-linking</a:t>
            </a:r>
            <a:endParaRPr lang="en-US" sz="820" dirty="0"/>
          </a:p>
        </p:txBody>
      </p:sp>
      <p:sp>
        <p:nvSpPr>
          <p:cNvPr id="65" name="Text 62"/>
          <p:cNvSpPr/>
          <p:nvPr/>
        </p:nvSpPr>
        <p:spPr>
          <a:xfrm>
            <a:off x="6419088" y="57607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i="1" dirty="0">
                <a:solidFill>
                  <a:srgbClr val="F5F7FA"/>
                </a:solidFill>
              </a:rPr>
              <a:t>Citadel-grade difference: the complexity stays; the navigation becomes legible.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3891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organizing principles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Entity-first navigation, lifecycle-aware flow, and one screen / one verb / one time horizon.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3232" y="1298448"/>
            <a:ext cx="3529584" cy="1856232"/>
          </a:xfrm>
          <a:prstGeom prst="roundRect">
            <a:avLst>
              <a:gd name="adj" fmla="val 3941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316736"/>
            <a:ext cx="0" cy="1819656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4813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1  Entity-first navigation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1828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A3A3B2"/>
                </a:solidFill>
              </a:rPr>
              <a:t>Every screen has one primary entity. Users move down Fund → Client → Strategy → Config → Run, then switch lenses without losing context.</a:t>
            </a:r>
            <a:endParaRPr lang="en-US" sz="1010" dirty="0"/>
          </a:p>
        </p:txBody>
      </p:sp>
      <p:sp>
        <p:nvSpPr>
          <p:cNvPr id="9" name="Shape 6"/>
          <p:cNvSpPr/>
          <p:nvPr/>
        </p:nvSpPr>
        <p:spPr>
          <a:xfrm>
            <a:off x="4334256" y="1298448"/>
            <a:ext cx="3529584" cy="1856232"/>
          </a:xfrm>
          <a:prstGeom prst="roundRect">
            <a:avLst>
              <a:gd name="adj" fmla="val 3941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52544" y="1316736"/>
            <a:ext cx="0" cy="1819656"/>
          </a:xfrm>
          <a:prstGeom prst="line">
            <a:avLst/>
          </a:prstGeom>
          <a:noFill/>
          <a:ln w="38100">
            <a:solidFill>
              <a:srgbClr val="4AD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5424" y="14813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2  Lifecycle-aware flow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35424" y="1828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A3A3B2"/>
                </a:solidFill>
              </a:rPr>
              <a:t>Design → Simulate → Promote → Run → Monitor → Explain → Reconcile is embedded as wayfinding, not decoration.</a:t>
            </a:r>
            <a:endParaRPr lang="en-US" sz="1010" dirty="0"/>
          </a:p>
        </p:txBody>
      </p:sp>
      <p:sp>
        <p:nvSpPr>
          <p:cNvPr id="13" name="Shape 10"/>
          <p:cNvSpPr/>
          <p:nvPr/>
        </p:nvSpPr>
        <p:spPr>
          <a:xfrm>
            <a:off x="7955280" y="1298448"/>
            <a:ext cx="3529584" cy="1856232"/>
          </a:xfrm>
          <a:prstGeom prst="roundRect">
            <a:avLst>
              <a:gd name="adj" fmla="val 3941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73568" y="1316736"/>
            <a:ext cx="0" cy="1819656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6448" y="1481328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</a:rPr>
              <a:t>3  One screen, one verb, one time horizon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56448" y="1828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A3A3B2"/>
                </a:solidFill>
              </a:rPr>
              <a:t>Every view declares its dominant verb and temporal mode, which stops analysis, action, and post-trade workflows from blurring together.</a:t>
            </a:r>
            <a:endParaRPr lang="en-US" sz="1010" dirty="0"/>
          </a:p>
        </p:txBody>
      </p:sp>
      <p:sp>
        <p:nvSpPr>
          <p:cNvPr id="17" name="Shape 14"/>
          <p:cNvSpPr/>
          <p:nvPr/>
        </p:nvSpPr>
        <p:spPr>
          <a:xfrm>
            <a:off x="713232" y="3493008"/>
            <a:ext cx="5806440" cy="2697480"/>
          </a:xfrm>
          <a:prstGeom prst="roundRect">
            <a:avLst>
              <a:gd name="adj" fmla="val 2712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3712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Business hierarchy — the money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50976" y="4133088"/>
            <a:ext cx="896112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4128" y="4270248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</a:rPr>
              <a:t>Fund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847088" y="4325112"/>
            <a:ext cx="310896" cy="0"/>
          </a:xfrm>
          <a:prstGeom prst="line">
            <a:avLst/>
          </a:prstGeom>
          <a:noFill/>
          <a:ln w="15240">
            <a:solidFill>
              <a:srgbClr val="26262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57984" y="4133088"/>
            <a:ext cx="896112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31136" y="4270248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</a:rPr>
              <a:t>Client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054096" y="4325112"/>
            <a:ext cx="310896" cy="0"/>
          </a:xfrm>
          <a:prstGeom prst="line">
            <a:avLst/>
          </a:prstGeom>
          <a:noFill/>
          <a:ln w="15240">
            <a:solidFill>
              <a:srgbClr val="2626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64992" y="4133088"/>
            <a:ext cx="896112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38144" y="4270248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</a:rPr>
              <a:t>Strategy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261104" y="4325112"/>
            <a:ext cx="310896" cy="0"/>
          </a:xfrm>
          <a:prstGeom prst="line">
            <a:avLst/>
          </a:prstGeom>
          <a:noFill/>
          <a:ln w="15240">
            <a:solidFill>
              <a:srgbClr val="26262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0" y="4133088"/>
            <a:ext cx="896112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45152" y="4270248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</a:rPr>
              <a:t>Config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468112" y="4325112"/>
            <a:ext cx="310896" cy="0"/>
          </a:xfrm>
          <a:prstGeom prst="line">
            <a:avLst/>
          </a:prstGeom>
          <a:noFill/>
          <a:ln w="15240">
            <a:solidFill>
              <a:srgbClr val="26262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79008" y="4133088"/>
            <a:ext cx="896112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4270248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</a:rPr>
              <a:t>Run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50976" y="486460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Lenses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950976" y="5029200"/>
            <a:ext cx="740664" cy="219456"/>
          </a:xfrm>
          <a:prstGeom prst="roundRect">
            <a:avLst>
              <a:gd name="adj" fmla="val 3333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24128" y="507949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Positions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764792" y="502920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837944" y="507949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404872" y="502920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478024" y="507949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Fills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044952" y="502920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118104" y="507949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PnL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685032" y="502920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758184" y="507949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325112" y="5029200"/>
            <a:ext cx="676656" cy="219456"/>
          </a:xfrm>
          <a:prstGeom prst="roundRect">
            <a:avLst>
              <a:gd name="adj" fmla="val 3333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398264" y="507949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Timeline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950976" y="56052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7FA"/>
                </a:solidFill>
              </a:rPr>
              <a:t>The entity is stable; the lens changes.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6720840" y="3493008"/>
            <a:ext cx="4754880" cy="2697480"/>
          </a:xfrm>
          <a:prstGeom prst="roundRect">
            <a:avLst>
              <a:gd name="adj" fmla="val 2712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931152" y="37124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</a:rPr>
              <a:t>Lifecycle rail — the operating flow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86384" y="422452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50976" y="422087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</a:t>
            </a:r>
            <a:endParaRPr lang="en-US" sz="810" dirty="0"/>
          </a:p>
        </p:txBody>
      </p:sp>
      <p:sp>
        <p:nvSpPr>
          <p:cNvPr id="51" name="Shape 48"/>
          <p:cNvSpPr/>
          <p:nvPr/>
        </p:nvSpPr>
        <p:spPr>
          <a:xfrm>
            <a:off x="1673352" y="428579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048256" y="422452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212848" y="422087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</a:t>
            </a:r>
            <a:endParaRPr lang="en-US" sz="810" dirty="0"/>
          </a:p>
        </p:txBody>
      </p:sp>
      <p:sp>
        <p:nvSpPr>
          <p:cNvPr id="54" name="Shape 51"/>
          <p:cNvSpPr/>
          <p:nvPr/>
        </p:nvSpPr>
        <p:spPr>
          <a:xfrm>
            <a:off x="2935224" y="428579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310128" y="422452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474720" y="422087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</a:t>
            </a:r>
            <a:endParaRPr lang="en-US" sz="810" dirty="0"/>
          </a:p>
        </p:txBody>
      </p:sp>
      <p:sp>
        <p:nvSpPr>
          <p:cNvPr id="57" name="Shape 54"/>
          <p:cNvSpPr/>
          <p:nvPr/>
        </p:nvSpPr>
        <p:spPr>
          <a:xfrm>
            <a:off x="4197096" y="428579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72000" y="422452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36592" y="422087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</a:t>
            </a:r>
            <a:endParaRPr lang="en-US" sz="810" dirty="0"/>
          </a:p>
        </p:txBody>
      </p:sp>
      <p:sp>
        <p:nvSpPr>
          <p:cNvPr id="60" name="Shape 57"/>
          <p:cNvSpPr/>
          <p:nvPr/>
        </p:nvSpPr>
        <p:spPr>
          <a:xfrm>
            <a:off x="5458968" y="428579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833872" y="422452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998464" y="422087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810" dirty="0"/>
          </a:p>
        </p:txBody>
      </p:sp>
      <p:sp>
        <p:nvSpPr>
          <p:cNvPr id="63" name="Shape 60"/>
          <p:cNvSpPr/>
          <p:nvPr/>
        </p:nvSpPr>
        <p:spPr>
          <a:xfrm>
            <a:off x="6720840" y="428579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095744" y="422452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260336" y="422087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</a:t>
            </a:r>
            <a:endParaRPr lang="en-US" sz="810" dirty="0"/>
          </a:p>
        </p:txBody>
      </p:sp>
      <p:sp>
        <p:nvSpPr>
          <p:cNvPr id="66" name="Shape 63"/>
          <p:cNvSpPr/>
          <p:nvPr/>
        </p:nvSpPr>
        <p:spPr>
          <a:xfrm>
            <a:off x="7982712" y="428579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357616" y="422452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522208" y="422087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Reconcile</a:t>
            </a:r>
            <a:endParaRPr lang="en-US" sz="810" dirty="0"/>
          </a:p>
        </p:txBody>
      </p:sp>
      <p:sp>
        <p:nvSpPr>
          <p:cNvPr id="69" name="Text 66"/>
          <p:cNvSpPr/>
          <p:nvPr/>
        </p:nvSpPr>
        <p:spPr>
          <a:xfrm>
            <a:off x="6931152" y="48280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B2"/>
                </a:solidFill>
              </a:rPr>
              <a:t>The UI should always answer two questions: Where am I? What comes next?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6931152" y="5175504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150608" y="53400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F7FA"/>
                </a:solidFill>
              </a:rPr>
              <a:t>Current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5F7FA"/>
                </a:solidFill>
              </a:rPr>
              <a:t>phase</a:t>
            </a:r>
            <a:endParaRPr lang="en-US" sz="880" dirty="0"/>
          </a:p>
        </p:txBody>
      </p:sp>
      <p:sp>
        <p:nvSpPr>
          <p:cNvPr id="72" name="Shape 69"/>
          <p:cNvSpPr/>
          <p:nvPr/>
        </p:nvSpPr>
        <p:spPr>
          <a:xfrm>
            <a:off x="8284464" y="5175504"/>
            <a:ext cx="1408176" cy="475488"/>
          </a:xfrm>
          <a:prstGeom prst="roundRect">
            <a:avLst>
              <a:gd name="adj" fmla="val 15385"/>
            </a:avLst>
          </a:prstGeom>
          <a:solidFill>
            <a:srgbClr val="4ADE80">
              <a:alpha val="12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558784" y="534009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F7FA"/>
                </a:solidFill>
              </a:rPr>
              <a:t>Natural next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5F7FA"/>
                </a:solidFill>
              </a:rPr>
              <a:t>action</a:t>
            </a:r>
            <a:endParaRPr lang="en-US" sz="880" dirty="0"/>
          </a:p>
        </p:txBody>
      </p:sp>
      <p:sp>
        <p:nvSpPr>
          <p:cNvPr id="74" name="Shape 71"/>
          <p:cNvSpPr/>
          <p:nvPr/>
        </p:nvSpPr>
        <p:spPr>
          <a:xfrm>
            <a:off x="9948672" y="5175504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149840" y="534009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5F7FA"/>
                </a:solidFill>
              </a:rPr>
              <a:t>Cross-surface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F5F7FA"/>
                </a:solidFill>
              </a:rPr>
              <a:t>portal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3891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architecture: 4 surfaces + 3 specialist tools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Daily-use surfaces anchor the trading day; specialist tools support configuration, models, and client artifacts.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86384" y="1408176"/>
            <a:ext cx="2578608" cy="1417320"/>
          </a:xfrm>
          <a:prstGeom prst="roundRect">
            <a:avLst>
              <a:gd name="adj" fmla="val 5806"/>
            </a:avLst>
          </a:prstGeom>
          <a:solidFill>
            <a:srgbClr val="4ADE80">
              <a:alpha val="12000"/>
            </a:srgbClr>
          </a:solidFill>
          <a:ln w="2032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50976" y="160934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5F7FA"/>
                </a:solidFill>
              </a:rPr>
              <a:t>Trading Command Center</a:t>
            </a:r>
            <a:endParaRPr lang="en-US" sz="1420" dirty="0"/>
          </a:p>
        </p:txBody>
      </p:sp>
      <p:sp>
        <p:nvSpPr>
          <p:cNvPr id="7" name="Text 4"/>
          <p:cNvSpPr/>
          <p:nvPr/>
        </p:nvSpPr>
        <p:spPr>
          <a:xfrm>
            <a:off x="969264" y="197510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Observe, intervene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Run, monitor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First screen at 7am</a:t>
            </a:r>
            <a:endParaRPr lang="en-US" sz="960" dirty="0"/>
          </a:p>
        </p:txBody>
      </p:sp>
      <p:sp>
        <p:nvSpPr>
          <p:cNvPr id="8" name="Shape 5"/>
          <p:cNvSpPr/>
          <p:nvPr/>
        </p:nvSpPr>
        <p:spPr>
          <a:xfrm>
            <a:off x="3584448" y="1408176"/>
            <a:ext cx="2578608" cy="1417320"/>
          </a:xfrm>
          <a:prstGeom prst="roundRect">
            <a:avLst>
              <a:gd name="adj" fmla="val 5806"/>
            </a:avLst>
          </a:prstGeom>
          <a:solidFill>
            <a:srgbClr val="60A5FA">
              <a:alpha val="12000"/>
            </a:srgbClr>
          </a:solidFill>
          <a:ln w="2032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749040" y="160934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5F7FA"/>
                </a:solidFill>
              </a:rPr>
              <a:t>Strategy Analytics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3767328" y="197510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Design, simulate, promote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Backtests + DimensionalGrid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6382512" y="1408176"/>
            <a:ext cx="2578608" cy="1417320"/>
          </a:xfrm>
          <a:prstGeom prst="roundRect">
            <a:avLst>
              <a:gd name="adj" fmla="val 5806"/>
            </a:avLst>
          </a:prstGeom>
          <a:solidFill>
            <a:srgbClr val="A78BFA">
              <a:alpha val="12000"/>
            </a:srgbClr>
          </a:solidFill>
          <a:ln w="2032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47104" y="160934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5F7FA"/>
                </a:solidFill>
              </a:rPr>
              <a:t>Market Intelligence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6565392" y="197510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Explain, reconcile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P&amp;L, latency, recon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9180576" y="1408176"/>
            <a:ext cx="2212848" cy="1417320"/>
          </a:xfrm>
          <a:prstGeom prst="roundRect">
            <a:avLst>
              <a:gd name="adj" fmla="val 5806"/>
            </a:avLst>
          </a:prstGeom>
          <a:solidFill>
            <a:srgbClr val="FBBF24">
              <a:alpha val="12000"/>
            </a:srgbClr>
          </a:solidFill>
          <a:ln w="2032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345168" y="160934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5F7FA"/>
                </a:solidFill>
              </a:rPr>
              <a:t>Operations Hub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9363456" y="197510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Deploy, diagnose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Services, jobs, logs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1298448" y="3858768"/>
            <a:ext cx="2148840" cy="896112"/>
          </a:xfrm>
          <a:prstGeom prst="roundRect">
            <a:avLst>
              <a:gd name="adj" fmla="val 9184"/>
            </a:avLst>
          </a:prstGeom>
          <a:solidFill>
            <a:srgbClr val="22D3EE">
              <a:alpha val="12000"/>
            </a:srgbClr>
          </a:solidFill>
          <a:ln w="2032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463040" y="405993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5F7FA"/>
                </a:solidFill>
              </a:rPr>
              <a:t>Config &amp; Onboarding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1481328" y="442569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Controlled CRUD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Publish typed configs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4626864" y="3858768"/>
            <a:ext cx="1755648" cy="896112"/>
          </a:xfrm>
          <a:prstGeom prst="roundRect">
            <a:avLst>
              <a:gd name="adj" fmla="val 9184"/>
            </a:avLst>
          </a:prstGeom>
          <a:solidFill>
            <a:srgbClr val="60A5FA">
              <a:alpha val="12000"/>
            </a:srgbClr>
          </a:solidFill>
          <a:ln w="2032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91456" y="405993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5F7FA"/>
                </a:solidFill>
              </a:rPr>
              <a:t>ML Platform</a:t>
            </a:r>
            <a:endParaRPr lang="en-US" sz="1420" dirty="0"/>
          </a:p>
        </p:txBody>
      </p:sp>
      <p:sp>
        <p:nvSpPr>
          <p:cNvPr id="22" name="Text 19"/>
          <p:cNvSpPr/>
          <p:nvPr/>
        </p:nvSpPr>
        <p:spPr>
          <a:xfrm>
            <a:off x="4809744" y="442569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Experiments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Model registry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8010144" y="3858768"/>
            <a:ext cx="2651760" cy="896112"/>
          </a:xfrm>
          <a:prstGeom prst="roundRect">
            <a:avLst>
              <a:gd name="adj" fmla="val 9184"/>
            </a:avLst>
          </a:prstGeom>
          <a:solidFill>
            <a:srgbClr val="A3A3B2">
              <a:alpha val="12000"/>
            </a:srgbClr>
          </a:solidFill>
          <a:ln w="20320">
            <a:solidFill>
              <a:srgbClr val="A3A3B2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2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174736" y="405993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5F7FA"/>
                </a:solidFill>
              </a:rPr>
              <a:t>Reporting &amp; Settlement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8193024" y="44256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EOD positions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A3A3B2"/>
                </a:solidFill>
              </a:rPr>
              <a:t>Reports, invoices, settlements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786384" y="3154680"/>
            <a:ext cx="10607040" cy="411480"/>
          </a:xfrm>
          <a:prstGeom prst="roundRect">
            <a:avLst>
              <a:gd name="adj" fmla="val 17778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330098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</a:rPr>
              <a:t>Lifecycle ownership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786384" y="326440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0976" y="326075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</a:t>
            </a:r>
            <a:endParaRPr lang="en-US" sz="810" dirty="0"/>
          </a:p>
        </p:txBody>
      </p:sp>
      <p:sp>
        <p:nvSpPr>
          <p:cNvPr id="30" name="Shape 27"/>
          <p:cNvSpPr/>
          <p:nvPr/>
        </p:nvSpPr>
        <p:spPr>
          <a:xfrm>
            <a:off x="1673352" y="332567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048256" y="326440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212848" y="326075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</a:t>
            </a:r>
            <a:endParaRPr lang="en-US" sz="810" dirty="0"/>
          </a:p>
        </p:txBody>
      </p:sp>
      <p:sp>
        <p:nvSpPr>
          <p:cNvPr id="33" name="Shape 30"/>
          <p:cNvSpPr/>
          <p:nvPr/>
        </p:nvSpPr>
        <p:spPr>
          <a:xfrm>
            <a:off x="2935224" y="332567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10128" y="326440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74720" y="326075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</a:t>
            </a:r>
            <a:endParaRPr lang="en-US" sz="810" dirty="0"/>
          </a:p>
        </p:txBody>
      </p:sp>
      <p:sp>
        <p:nvSpPr>
          <p:cNvPr id="36" name="Shape 33"/>
          <p:cNvSpPr/>
          <p:nvPr/>
        </p:nvSpPr>
        <p:spPr>
          <a:xfrm>
            <a:off x="4197096" y="332567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72000" y="326440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36592" y="326075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</a:t>
            </a:r>
            <a:endParaRPr lang="en-US" sz="810" dirty="0"/>
          </a:p>
        </p:txBody>
      </p:sp>
      <p:sp>
        <p:nvSpPr>
          <p:cNvPr id="39" name="Shape 36"/>
          <p:cNvSpPr/>
          <p:nvPr/>
        </p:nvSpPr>
        <p:spPr>
          <a:xfrm>
            <a:off x="5458968" y="332567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833872" y="326440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98464" y="326075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810" dirty="0"/>
          </a:p>
        </p:txBody>
      </p:sp>
      <p:sp>
        <p:nvSpPr>
          <p:cNvPr id="42" name="Shape 39"/>
          <p:cNvSpPr/>
          <p:nvPr/>
        </p:nvSpPr>
        <p:spPr>
          <a:xfrm>
            <a:off x="6720840" y="332567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95744" y="326440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60336" y="326075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</a:t>
            </a:r>
            <a:endParaRPr lang="en-US" sz="810" dirty="0"/>
          </a:p>
        </p:txBody>
      </p:sp>
      <p:sp>
        <p:nvSpPr>
          <p:cNvPr id="45" name="Shape 42"/>
          <p:cNvSpPr/>
          <p:nvPr/>
        </p:nvSpPr>
        <p:spPr>
          <a:xfrm>
            <a:off x="7982712" y="332567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357616" y="326440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522208" y="326075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Reconcile</a:t>
            </a:r>
            <a:endParaRPr lang="en-US" sz="810" dirty="0"/>
          </a:p>
        </p:txBody>
      </p:sp>
      <p:sp>
        <p:nvSpPr>
          <p:cNvPr id="48" name="Shape 45"/>
          <p:cNvSpPr/>
          <p:nvPr/>
        </p:nvSpPr>
        <p:spPr>
          <a:xfrm>
            <a:off x="1783080" y="3227832"/>
            <a:ext cx="2432304" cy="109728"/>
          </a:xfrm>
          <a:prstGeom prst="rect">
            <a:avLst/>
          </a:prstGeom>
          <a:solidFill>
            <a:srgbClr val="60A5FA">
              <a:alpha val="28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77256" y="3227832"/>
            <a:ext cx="1572768" cy="109728"/>
          </a:xfrm>
          <a:prstGeom prst="rect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296912" y="3227832"/>
            <a:ext cx="2825496" cy="109728"/>
          </a:xfrm>
          <a:prstGeom prst="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41248" y="579729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7FA"/>
                </a:solidFill>
              </a:rPr>
              <a:t>Keep surfaces canonical. Do not let tools grow duplicate analytics, duplicate deployments, or duplicate live state.</a:t>
            </a:r>
            <a:endParaRPr lang="en-US" sz="1150" dirty="0"/>
          </a:p>
        </p:txBody>
      </p:sp>
      <p:sp>
        <p:nvSpPr>
          <p:cNvPr id="52" name="Text 49"/>
          <p:cNvSpPr/>
          <p:nvPr/>
        </p:nvSpPr>
        <p:spPr>
          <a:xfrm>
            <a:off x="7717536" y="57972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Outcome: 7 repos, 7 ports, zero duplication.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3891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surface 01 — Trading Command Center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operating mode: what is happening right now, what is at risk, and what can I do immediately?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48640" y="1353312"/>
            <a:ext cx="11064240" cy="5175504"/>
          </a:xfrm>
          <a:prstGeom prst="roundRect">
            <a:avLst>
              <a:gd name="adj" fmla="val 1413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" y="1444752"/>
            <a:ext cx="11045952" cy="347472"/>
          </a:xfrm>
          <a:prstGeom prst="roundRect">
            <a:avLst>
              <a:gd name="adj" fmla="val 21053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490472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4ADE80">
              <a:alpha val="14000"/>
            </a:srgbClr>
          </a:solidFill>
          <a:ln w="12700">
            <a:solidFill>
              <a:srgbClr val="4ADE80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Trading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1517904" y="153619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2487168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78B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Markets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3200400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3913632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4626864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5340096" y="153619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10222992" y="1490472"/>
            <a:ext cx="1143000" cy="219456"/>
          </a:xfrm>
          <a:prstGeom prst="roundRect">
            <a:avLst>
              <a:gd name="adj" fmla="val 29167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60152" y="15407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⌕  Search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86384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0976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</a:t>
            </a:r>
            <a:endParaRPr lang="en-US" sz="810" dirty="0"/>
          </a:p>
        </p:txBody>
      </p:sp>
      <p:sp>
        <p:nvSpPr>
          <p:cNvPr id="19" name="Shape 16"/>
          <p:cNvSpPr/>
          <p:nvPr/>
        </p:nvSpPr>
        <p:spPr>
          <a:xfrm>
            <a:off x="1673352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048256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12848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</a:t>
            </a:r>
            <a:endParaRPr lang="en-US" sz="810" dirty="0"/>
          </a:p>
        </p:txBody>
      </p:sp>
      <p:sp>
        <p:nvSpPr>
          <p:cNvPr id="22" name="Shape 19"/>
          <p:cNvSpPr/>
          <p:nvPr/>
        </p:nvSpPr>
        <p:spPr>
          <a:xfrm>
            <a:off x="2935224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10128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0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197096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0" y="184708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6592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</a:t>
            </a:r>
            <a:endParaRPr lang="en-US" sz="810" dirty="0"/>
          </a:p>
        </p:txBody>
      </p:sp>
      <p:sp>
        <p:nvSpPr>
          <p:cNvPr id="28" name="Shape 25"/>
          <p:cNvSpPr/>
          <p:nvPr/>
        </p:nvSpPr>
        <p:spPr>
          <a:xfrm>
            <a:off x="5458968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33872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810" dirty="0"/>
          </a:p>
        </p:txBody>
      </p:sp>
      <p:sp>
        <p:nvSpPr>
          <p:cNvPr id="31" name="Shape 28"/>
          <p:cNvSpPr/>
          <p:nvPr/>
        </p:nvSpPr>
        <p:spPr>
          <a:xfrm>
            <a:off x="6720840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95744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260336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</a:t>
            </a:r>
            <a:endParaRPr lang="en-US" sz="810" dirty="0"/>
          </a:p>
        </p:txBody>
      </p:sp>
      <p:sp>
        <p:nvSpPr>
          <p:cNvPr id="34" name="Shape 31"/>
          <p:cNvSpPr/>
          <p:nvPr/>
        </p:nvSpPr>
        <p:spPr>
          <a:xfrm>
            <a:off x="7982712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57616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22208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Reconcile</a:t>
            </a:r>
            <a:endParaRPr lang="en-US" sz="810" dirty="0"/>
          </a:p>
        </p:txBody>
      </p:sp>
      <p:sp>
        <p:nvSpPr>
          <p:cNvPr id="37" name="Shape 34"/>
          <p:cNvSpPr/>
          <p:nvPr/>
        </p:nvSpPr>
        <p:spPr>
          <a:xfrm>
            <a:off x="749808" y="2139696"/>
            <a:ext cx="5760720" cy="274320"/>
          </a:xfrm>
          <a:prstGeom prst="roundRect">
            <a:avLst>
              <a:gd name="adj" fmla="val 26667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7824" y="2203704"/>
            <a:ext cx="5440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Odum Delta One  &gt;  Blue Coast Capital  &gt;  BTC Basis v3  &gt;  cfg-3.2.1</a:t>
            </a:r>
            <a:endParaRPr lang="en-US" sz="820" dirty="0"/>
          </a:p>
        </p:txBody>
      </p:sp>
      <p:sp>
        <p:nvSpPr>
          <p:cNvPr id="39" name="Shape 36"/>
          <p:cNvSpPr/>
          <p:nvPr/>
        </p:nvSpPr>
        <p:spPr>
          <a:xfrm>
            <a:off x="841248" y="2505456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7552" y="26151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Firm PnL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987552" y="277977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+$1.42m</a:t>
            </a:r>
            <a:endParaRPr lang="en-US" sz="1450" dirty="0"/>
          </a:p>
        </p:txBody>
      </p:sp>
      <p:sp>
        <p:nvSpPr>
          <p:cNvPr id="42" name="Text 39"/>
          <p:cNvSpPr/>
          <p:nvPr/>
        </p:nvSpPr>
        <p:spPr>
          <a:xfrm>
            <a:off x="987552" y="3108960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▲ +0.8% 1d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2377440" y="2505456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523744" y="26151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 Exp.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2523744" y="277977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$4.2m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2523744" y="3108960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1.2x levered</a:t>
            </a:r>
            <a:endParaRPr lang="en-US" sz="740" dirty="0"/>
          </a:p>
        </p:txBody>
      </p:sp>
      <p:sp>
        <p:nvSpPr>
          <p:cNvPr id="47" name="Shape 44"/>
          <p:cNvSpPr/>
          <p:nvPr/>
        </p:nvSpPr>
        <p:spPr>
          <a:xfrm>
            <a:off x="3913632" y="2505456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059936" y="26151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Margin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4059936" y="277977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82%</a:t>
            </a:r>
            <a:endParaRPr lang="en-US" sz="1450" dirty="0"/>
          </a:p>
        </p:txBody>
      </p:sp>
      <p:sp>
        <p:nvSpPr>
          <p:cNvPr id="50" name="Text 47"/>
          <p:cNvSpPr/>
          <p:nvPr/>
        </p:nvSpPr>
        <p:spPr>
          <a:xfrm>
            <a:off x="4059936" y="3108960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+$340k free</a:t>
            </a:r>
            <a:endParaRPr lang="en-US" sz="740" dirty="0"/>
          </a:p>
        </p:txBody>
      </p:sp>
      <p:sp>
        <p:nvSpPr>
          <p:cNvPr id="51" name="Shape 48"/>
          <p:cNvSpPr/>
          <p:nvPr/>
        </p:nvSpPr>
        <p:spPr>
          <a:xfrm>
            <a:off x="5449824" y="2505456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596128" y="26151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strats</a:t>
            </a:r>
            <a:endParaRPr lang="en-US" sz="840" dirty="0"/>
          </a:p>
        </p:txBody>
      </p:sp>
      <p:sp>
        <p:nvSpPr>
          <p:cNvPr id="53" name="Text 50"/>
          <p:cNvSpPr/>
          <p:nvPr/>
        </p:nvSpPr>
        <p:spPr>
          <a:xfrm>
            <a:off x="5596128" y="277977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1450" dirty="0"/>
          </a:p>
        </p:txBody>
      </p:sp>
      <p:sp>
        <p:nvSpPr>
          <p:cNvPr id="54" name="Text 51"/>
          <p:cNvSpPr/>
          <p:nvPr/>
        </p:nvSpPr>
        <p:spPr>
          <a:xfrm>
            <a:off x="5596128" y="3108960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healthy</a:t>
            </a:r>
            <a:endParaRPr lang="en-US" sz="740" dirty="0"/>
          </a:p>
        </p:txBody>
      </p:sp>
      <p:sp>
        <p:nvSpPr>
          <p:cNvPr id="55" name="Shape 52"/>
          <p:cNvSpPr/>
          <p:nvPr/>
        </p:nvSpPr>
        <p:spPr>
          <a:xfrm>
            <a:off x="6986016" y="2505456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132320" y="26151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Alerts</a:t>
            </a:r>
            <a:endParaRPr lang="en-US" sz="840" dirty="0"/>
          </a:p>
        </p:txBody>
      </p:sp>
      <p:sp>
        <p:nvSpPr>
          <p:cNvPr id="57" name="Text 54"/>
          <p:cNvSpPr/>
          <p:nvPr/>
        </p:nvSpPr>
        <p:spPr>
          <a:xfrm>
            <a:off x="7132320" y="277977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crit</a:t>
            </a:r>
            <a:endParaRPr lang="en-US" sz="1450" dirty="0"/>
          </a:p>
        </p:txBody>
      </p:sp>
      <p:sp>
        <p:nvSpPr>
          <p:cNvPr id="58" name="Text 55"/>
          <p:cNvSpPr/>
          <p:nvPr/>
        </p:nvSpPr>
        <p:spPr>
          <a:xfrm>
            <a:off x="7132320" y="3108960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high</a:t>
            </a:r>
            <a:endParaRPr lang="en-US" sz="740" dirty="0"/>
          </a:p>
        </p:txBody>
      </p:sp>
      <p:sp>
        <p:nvSpPr>
          <p:cNvPr id="59" name="Shape 56"/>
          <p:cNvSpPr/>
          <p:nvPr/>
        </p:nvSpPr>
        <p:spPr>
          <a:xfrm>
            <a:off x="841248" y="3547872"/>
            <a:ext cx="4572000" cy="1938528"/>
          </a:xfrm>
          <a:prstGeom prst="roundRect">
            <a:avLst>
              <a:gd name="adj" fmla="val 3774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24128" y="3730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Strategy performance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2834640" y="374904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A3A3B2"/>
                </a:solidFill>
              </a:rPr>
              <a:t>Click strategy → analytics • click status → filtered live positions</a:t>
            </a:r>
            <a:endParaRPr lang="en-US" sz="780" dirty="0"/>
          </a:p>
        </p:txBody>
      </p:sp>
      <p:sp>
        <p:nvSpPr>
          <p:cNvPr id="62" name="Text 59"/>
          <p:cNvSpPr/>
          <p:nvPr/>
        </p:nvSpPr>
        <p:spPr>
          <a:xfrm>
            <a:off x="1024128" y="40599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820" dirty="0"/>
          </a:p>
        </p:txBody>
      </p:sp>
      <p:sp>
        <p:nvSpPr>
          <p:cNvPr id="63" name="Text 60"/>
          <p:cNvSpPr/>
          <p:nvPr/>
        </p:nvSpPr>
        <p:spPr>
          <a:xfrm>
            <a:off x="2395728" y="40599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</a:t>
            </a:r>
            <a:endParaRPr lang="en-US" sz="820" dirty="0"/>
          </a:p>
        </p:txBody>
      </p:sp>
      <p:sp>
        <p:nvSpPr>
          <p:cNvPr id="64" name="Text 61"/>
          <p:cNvSpPr/>
          <p:nvPr/>
        </p:nvSpPr>
        <p:spPr>
          <a:xfrm>
            <a:off x="2834640" y="405993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PnL</a:t>
            </a:r>
            <a:endParaRPr lang="en-US" sz="820" dirty="0"/>
          </a:p>
        </p:txBody>
      </p:sp>
      <p:sp>
        <p:nvSpPr>
          <p:cNvPr id="65" name="Text 62"/>
          <p:cNvSpPr/>
          <p:nvPr/>
        </p:nvSpPr>
        <p:spPr>
          <a:xfrm>
            <a:off x="3429000" y="40599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Shrp</a:t>
            </a:r>
            <a:endParaRPr lang="en-US" sz="820" dirty="0"/>
          </a:p>
        </p:txBody>
      </p:sp>
      <p:sp>
        <p:nvSpPr>
          <p:cNvPr id="66" name="Text 63"/>
          <p:cNvSpPr/>
          <p:nvPr/>
        </p:nvSpPr>
        <p:spPr>
          <a:xfrm>
            <a:off x="3813048" y="40599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DD</a:t>
            </a:r>
            <a:endParaRPr lang="en-US" sz="820" dirty="0"/>
          </a:p>
        </p:txBody>
      </p:sp>
      <p:sp>
        <p:nvSpPr>
          <p:cNvPr id="67" name="Text 64"/>
          <p:cNvSpPr/>
          <p:nvPr/>
        </p:nvSpPr>
        <p:spPr>
          <a:xfrm>
            <a:off x="4142232" y="40599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Trend</a:t>
            </a:r>
            <a:endParaRPr lang="en-US" sz="820" dirty="0"/>
          </a:p>
        </p:txBody>
      </p:sp>
      <p:sp>
        <p:nvSpPr>
          <p:cNvPr id="68" name="Text 65"/>
          <p:cNvSpPr/>
          <p:nvPr/>
        </p:nvSpPr>
        <p:spPr>
          <a:xfrm>
            <a:off x="1024128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BTC Basis v3</a:t>
            </a:r>
            <a:endParaRPr lang="en-US" sz="820" dirty="0"/>
          </a:p>
        </p:txBody>
      </p:sp>
      <p:sp>
        <p:nvSpPr>
          <p:cNvPr id="69" name="Text 66"/>
          <p:cNvSpPr/>
          <p:nvPr/>
        </p:nvSpPr>
        <p:spPr>
          <a:xfrm>
            <a:off x="2395728" y="43159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L</a:t>
            </a:r>
            <a:endParaRPr lang="en-US" sz="820" dirty="0"/>
          </a:p>
        </p:txBody>
      </p:sp>
      <p:sp>
        <p:nvSpPr>
          <p:cNvPr id="70" name="Text 67"/>
          <p:cNvSpPr/>
          <p:nvPr/>
        </p:nvSpPr>
        <p:spPr>
          <a:xfrm>
            <a:off x="2834640" y="43159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+$412k</a:t>
            </a:r>
            <a:endParaRPr lang="en-US" sz="820" dirty="0"/>
          </a:p>
        </p:txBody>
      </p:sp>
      <p:sp>
        <p:nvSpPr>
          <p:cNvPr id="71" name="Text 68"/>
          <p:cNvSpPr/>
          <p:nvPr/>
        </p:nvSpPr>
        <p:spPr>
          <a:xfrm>
            <a:off x="3429000" y="43159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2.1</a:t>
            </a:r>
            <a:endParaRPr lang="en-US" sz="820" dirty="0"/>
          </a:p>
        </p:txBody>
      </p:sp>
      <p:sp>
        <p:nvSpPr>
          <p:cNvPr id="72" name="Text 69"/>
          <p:cNvSpPr/>
          <p:nvPr/>
        </p:nvSpPr>
        <p:spPr>
          <a:xfrm>
            <a:off x="3813048" y="431596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4.1%</a:t>
            </a:r>
            <a:endParaRPr lang="en-US" sz="820" dirty="0"/>
          </a:p>
        </p:txBody>
      </p:sp>
      <p:sp>
        <p:nvSpPr>
          <p:cNvPr id="73" name="Text 70"/>
          <p:cNvSpPr/>
          <p:nvPr/>
        </p:nvSpPr>
        <p:spPr>
          <a:xfrm>
            <a:off x="4142232" y="43159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╱╲╱╲</a:t>
            </a:r>
            <a:endParaRPr lang="en-US" sz="820" dirty="0"/>
          </a:p>
        </p:txBody>
      </p:sp>
      <p:sp>
        <p:nvSpPr>
          <p:cNvPr id="74" name="Text 71"/>
          <p:cNvSpPr/>
          <p:nvPr/>
        </p:nvSpPr>
        <p:spPr>
          <a:xfrm>
            <a:off x="1024128" y="4562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 Staked</a:t>
            </a:r>
            <a:endParaRPr lang="en-US" sz="820" dirty="0"/>
          </a:p>
        </p:txBody>
      </p:sp>
      <p:sp>
        <p:nvSpPr>
          <p:cNvPr id="75" name="Text 72"/>
          <p:cNvSpPr/>
          <p:nvPr/>
        </p:nvSpPr>
        <p:spPr>
          <a:xfrm>
            <a:off x="2395728" y="45628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L</a:t>
            </a:r>
            <a:endParaRPr lang="en-US" sz="820" dirty="0"/>
          </a:p>
        </p:txBody>
      </p:sp>
      <p:sp>
        <p:nvSpPr>
          <p:cNvPr id="76" name="Text 73"/>
          <p:cNvSpPr/>
          <p:nvPr/>
        </p:nvSpPr>
        <p:spPr>
          <a:xfrm>
            <a:off x="2834640" y="456285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+$289k</a:t>
            </a:r>
            <a:endParaRPr lang="en-US" sz="820" dirty="0"/>
          </a:p>
        </p:txBody>
      </p:sp>
      <p:sp>
        <p:nvSpPr>
          <p:cNvPr id="77" name="Text 74"/>
          <p:cNvSpPr/>
          <p:nvPr/>
        </p:nvSpPr>
        <p:spPr>
          <a:xfrm>
            <a:off x="3429000" y="4562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2.5</a:t>
            </a:r>
            <a:endParaRPr lang="en-US" sz="820" dirty="0"/>
          </a:p>
        </p:txBody>
      </p:sp>
      <p:sp>
        <p:nvSpPr>
          <p:cNvPr id="78" name="Text 75"/>
          <p:cNvSpPr/>
          <p:nvPr/>
        </p:nvSpPr>
        <p:spPr>
          <a:xfrm>
            <a:off x="3813048" y="45628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3.3%</a:t>
            </a:r>
            <a:endParaRPr lang="en-US" sz="820" dirty="0"/>
          </a:p>
        </p:txBody>
      </p:sp>
      <p:sp>
        <p:nvSpPr>
          <p:cNvPr id="79" name="Text 76"/>
          <p:cNvSpPr/>
          <p:nvPr/>
        </p:nvSpPr>
        <p:spPr>
          <a:xfrm>
            <a:off x="4142232" y="45628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╱╲╱</a:t>
            </a:r>
            <a:endParaRPr lang="en-US" sz="820" dirty="0"/>
          </a:p>
        </p:txBody>
      </p:sp>
      <p:sp>
        <p:nvSpPr>
          <p:cNvPr id="80" name="Text 77"/>
          <p:cNvSpPr/>
          <p:nvPr/>
        </p:nvSpPr>
        <p:spPr>
          <a:xfrm>
            <a:off x="1024128" y="48097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AAVE Lending</a:t>
            </a:r>
            <a:endParaRPr lang="en-US" sz="820" dirty="0"/>
          </a:p>
        </p:txBody>
      </p:sp>
      <p:sp>
        <p:nvSpPr>
          <p:cNvPr id="81" name="Text 78"/>
          <p:cNvSpPr/>
          <p:nvPr/>
        </p:nvSpPr>
        <p:spPr>
          <a:xfrm>
            <a:off x="2395728" y="480974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L</a:t>
            </a:r>
            <a:endParaRPr lang="en-US" sz="820" dirty="0"/>
          </a:p>
        </p:txBody>
      </p:sp>
      <p:sp>
        <p:nvSpPr>
          <p:cNvPr id="82" name="Text 79"/>
          <p:cNvSpPr/>
          <p:nvPr/>
        </p:nvSpPr>
        <p:spPr>
          <a:xfrm>
            <a:off x="2834640" y="48097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+$91k</a:t>
            </a:r>
            <a:endParaRPr lang="en-US" sz="820" dirty="0"/>
          </a:p>
        </p:txBody>
      </p:sp>
      <p:sp>
        <p:nvSpPr>
          <p:cNvPr id="83" name="Text 80"/>
          <p:cNvSpPr/>
          <p:nvPr/>
        </p:nvSpPr>
        <p:spPr>
          <a:xfrm>
            <a:off x="3429000" y="48097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1.8</a:t>
            </a:r>
            <a:endParaRPr lang="en-US" sz="820" dirty="0"/>
          </a:p>
        </p:txBody>
      </p:sp>
      <p:sp>
        <p:nvSpPr>
          <p:cNvPr id="84" name="Text 81"/>
          <p:cNvSpPr/>
          <p:nvPr/>
        </p:nvSpPr>
        <p:spPr>
          <a:xfrm>
            <a:off x="3813048" y="480974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2.1%</a:t>
            </a:r>
            <a:endParaRPr lang="en-US" sz="820" dirty="0"/>
          </a:p>
        </p:txBody>
      </p:sp>
      <p:sp>
        <p:nvSpPr>
          <p:cNvPr id="85" name="Text 82"/>
          <p:cNvSpPr/>
          <p:nvPr/>
        </p:nvSpPr>
        <p:spPr>
          <a:xfrm>
            <a:off x="4142232" y="48097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╱╲</a:t>
            </a:r>
            <a:endParaRPr lang="en-US" sz="820" dirty="0"/>
          </a:p>
        </p:txBody>
      </p:sp>
      <p:sp>
        <p:nvSpPr>
          <p:cNvPr id="86" name="Text 83"/>
          <p:cNvSpPr/>
          <p:nvPr/>
        </p:nvSpPr>
        <p:spPr>
          <a:xfrm>
            <a:off x="1024128" y="5056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 Direction</a:t>
            </a:r>
            <a:endParaRPr lang="en-US" sz="820" dirty="0"/>
          </a:p>
        </p:txBody>
      </p:sp>
      <p:sp>
        <p:nvSpPr>
          <p:cNvPr id="87" name="Text 84"/>
          <p:cNvSpPr/>
          <p:nvPr/>
        </p:nvSpPr>
        <p:spPr>
          <a:xfrm>
            <a:off x="2395728" y="505663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▲ W</a:t>
            </a:r>
            <a:endParaRPr lang="en-US" sz="820" dirty="0"/>
          </a:p>
        </p:txBody>
      </p:sp>
      <p:sp>
        <p:nvSpPr>
          <p:cNvPr id="88" name="Text 85"/>
          <p:cNvSpPr/>
          <p:nvPr/>
        </p:nvSpPr>
        <p:spPr>
          <a:xfrm>
            <a:off x="2834640" y="505663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71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-$18k</a:t>
            </a:r>
            <a:endParaRPr lang="en-US" sz="820" dirty="0"/>
          </a:p>
        </p:txBody>
      </p:sp>
      <p:sp>
        <p:nvSpPr>
          <p:cNvPr id="89" name="Text 86"/>
          <p:cNvSpPr/>
          <p:nvPr/>
        </p:nvSpPr>
        <p:spPr>
          <a:xfrm>
            <a:off x="3429000" y="50566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0.9</a:t>
            </a:r>
            <a:endParaRPr lang="en-US" sz="820" dirty="0"/>
          </a:p>
        </p:txBody>
      </p:sp>
      <p:sp>
        <p:nvSpPr>
          <p:cNvPr id="90" name="Text 87"/>
          <p:cNvSpPr/>
          <p:nvPr/>
        </p:nvSpPr>
        <p:spPr>
          <a:xfrm>
            <a:off x="3813048" y="50566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6.8%</a:t>
            </a:r>
            <a:endParaRPr lang="en-US" sz="820" dirty="0"/>
          </a:p>
        </p:txBody>
      </p:sp>
      <p:sp>
        <p:nvSpPr>
          <p:cNvPr id="91" name="Text 88"/>
          <p:cNvSpPr/>
          <p:nvPr/>
        </p:nvSpPr>
        <p:spPr>
          <a:xfrm>
            <a:off x="4142232" y="50566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╲╱╲</a:t>
            </a:r>
            <a:endParaRPr lang="en-US" sz="820" dirty="0"/>
          </a:p>
        </p:txBody>
      </p:sp>
      <p:sp>
        <p:nvSpPr>
          <p:cNvPr id="92" name="Text 89"/>
          <p:cNvSpPr/>
          <p:nvPr/>
        </p:nvSpPr>
        <p:spPr>
          <a:xfrm>
            <a:off x="1024128" y="5303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SPY ML Dir</a:t>
            </a:r>
            <a:endParaRPr lang="en-US" sz="820" dirty="0"/>
          </a:p>
        </p:txBody>
      </p:sp>
      <p:sp>
        <p:nvSpPr>
          <p:cNvPr id="93" name="Text 90"/>
          <p:cNvSpPr/>
          <p:nvPr/>
        </p:nvSpPr>
        <p:spPr>
          <a:xfrm>
            <a:off x="2395728" y="53035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L</a:t>
            </a:r>
            <a:endParaRPr lang="en-US" sz="820" dirty="0"/>
          </a:p>
        </p:txBody>
      </p:sp>
      <p:sp>
        <p:nvSpPr>
          <p:cNvPr id="94" name="Text 91"/>
          <p:cNvSpPr/>
          <p:nvPr/>
        </p:nvSpPr>
        <p:spPr>
          <a:xfrm>
            <a:off x="2834640" y="53035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+$67k</a:t>
            </a:r>
            <a:endParaRPr lang="en-US" sz="820" dirty="0"/>
          </a:p>
        </p:txBody>
      </p:sp>
      <p:sp>
        <p:nvSpPr>
          <p:cNvPr id="95" name="Text 92"/>
          <p:cNvSpPr/>
          <p:nvPr/>
        </p:nvSpPr>
        <p:spPr>
          <a:xfrm>
            <a:off x="3429000" y="5303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1.4</a:t>
            </a:r>
            <a:endParaRPr lang="en-US" sz="820" dirty="0"/>
          </a:p>
        </p:txBody>
      </p:sp>
      <p:sp>
        <p:nvSpPr>
          <p:cNvPr id="96" name="Text 93"/>
          <p:cNvSpPr/>
          <p:nvPr/>
        </p:nvSpPr>
        <p:spPr>
          <a:xfrm>
            <a:off x="3813048" y="53035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3.9%</a:t>
            </a:r>
            <a:endParaRPr lang="en-US" sz="820" dirty="0"/>
          </a:p>
        </p:txBody>
      </p:sp>
      <p:sp>
        <p:nvSpPr>
          <p:cNvPr id="97" name="Text 94"/>
          <p:cNvSpPr/>
          <p:nvPr/>
        </p:nvSpPr>
        <p:spPr>
          <a:xfrm>
            <a:off x="4142232" y="53035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╱╲╱</a:t>
            </a:r>
            <a:endParaRPr lang="en-US" sz="820" dirty="0"/>
          </a:p>
        </p:txBody>
      </p:sp>
      <p:sp>
        <p:nvSpPr>
          <p:cNvPr id="98" name="Text 95"/>
          <p:cNvSpPr/>
          <p:nvPr/>
        </p:nvSpPr>
        <p:spPr>
          <a:xfrm>
            <a:off x="1024128" y="55504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Sports Arb</a:t>
            </a:r>
            <a:endParaRPr lang="en-US" sz="820" dirty="0"/>
          </a:p>
        </p:txBody>
      </p:sp>
      <p:sp>
        <p:nvSpPr>
          <p:cNvPr id="99" name="Text 96"/>
          <p:cNvSpPr/>
          <p:nvPr/>
        </p:nvSpPr>
        <p:spPr>
          <a:xfrm>
            <a:off x="2395728" y="55504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L</a:t>
            </a:r>
            <a:endParaRPr lang="en-US" sz="820" dirty="0"/>
          </a:p>
        </p:txBody>
      </p:sp>
      <p:sp>
        <p:nvSpPr>
          <p:cNvPr id="100" name="Text 97"/>
          <p:cNvSpPr/>
          <p:nvPr/>
        </p:nvSpPr>
        <p:spPr>
          <a:xfrm>
            <a:off x="2834640" y="555040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+$44k</a:t>
            </a:r>
            <a:endParaRPr lang="en-US" sz="820" dirty="0"/>
          </a:p>
        </p:txBody>
      </p:sp>
      <p:sp>
        <p:nvSpPr>
          <p:cNvPr id="101" name="Text 98"/>
          <p:cNvSpPr/>
          <p:nvPr/>
        </p:nvSpPr>
        <p:spPr>
          <a:xfrm>
            <a:off x="3429000" y="55504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1.6</a:t>
            </a:r>
            <a:endParaRPr lang="en-US" sz="820" dirty="0"/>
          </a:p>
        </p:txBody>
      </p:sp>
      <p:sp>
        <p:nvSpPr>
          <p:cNvPr id="102" name="Text 99"/>
          <p:cNvSpPr/>
          <p:nvPr/>
        </p:nvSpPr>
        <p:spPr>
          <a:xfrm>
            <a:off x="3813048" y="55504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1.8%</a:t>
            </a:r>
            <a:endParaRPr lang="en-US" sz="820" dirty="0"/>
          </a:p>
        </p:txBody>
      </p:sp>
      <p:sp>
        <p:nvSpPr>
          <p:cNvPr id="103" name="Text 100"/>
          <p:cNvSpPr/>
          <p:nvPr/>
        </p:nvSpPr>
        <p:spPr>
          <a:xfrm>
            <a:off x="4142232" y="55504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╱╲</a:t>
            </a:r>
            <a:endParaRPr lang="en-US" sz="820" dirty="0"/>
          </a:p>
        </p:txBody>
      </p:sp>
      <p:sp>
        <p:nvSpPr>
          <p:cNvPr id="104" name="Shape 101"/>
          <p:cNvSpPr/>
          <p:nvPr/>
        </p:nvSpPr>
        <p:spPr>
          <a:xfrm>
            <a:off x="5632704" y="3547872"/>
            <a:ext cx="2743200" cy="1938528"/>
          </a:xfrm>
          <a:prstGeom prst="roundRect">
            <a:avLst>
              <a:gd name="adj" fmla="val 3774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5815584" y="3730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P&amp;L + risk attribution</a:t>
            </a:r>
            <a:endParaRPr lang="en-US" sz="1150" dirty="0"/>
          </a:p>
        </p:txBody>
      </p:sp>
      <p:sp>
        <p:nvSpPr>
          <p:cNvPr id="106" name="Text 103"/>
          <p:cNvSpPr/>
          <p:nvPr/>
        </p:nvSpPr>
        <p:spPr>
          <a:xfrm>
            <a:off x="6967728" y="374904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A3A3B2"/>
                </a:solidFill>
              </a:rPr>
              <a:t>(same dimensions, two sides)</a:t>
            </a:r>
            <a:endParaRPr lang="en-US" sz="780" dirty="0"/>
          </a:p>
        </p:txBody>
      </p:sp>
      <p:sp>
        <p:nvSpPr>
          <p:cNvPr id="107" name="Text 104"/>
          <p:cNvSpPr/>
          <p:nvPr/>
        </p:nvSpPr>
        <p:spPr>
          <a:xfrm>
            <a:off x="5815584" y="4059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Bucket</a:t>
            </a:r>
            <a:endParaRPr lang="en-US" sz="820" dirty="0"/>
          </a:p>
        </p:txBody>
      </p:sp>
      <p:sp>
        <p:nvSpPr>
          <p:cNvPr id="108" name="Text 105"/>
          <p:cNvSpPr/>
          <p:nvPr/>
        </p:nvSpPr>
        <p:spPr>
          <a:xfrm>
            <a:off x="6638544" y="40599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P&amp;L</a:t>
            </a:r>
            <a:endParaRPr lang="en-US" sz="820" dirty="0"/>
          </a:p>
        </p:txBody>
      </p:sp>
      <p:sp>
        <p:nvSpPr>
          <p:cNvPr id="109" name="Text 106"/>
          <p:cNvSpPr/>
          <p:nvPr/>
        </p:nvSpPr>
        <p:spPr>
          <a:xfrm>
            <a:off x="7205472" y="405993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Exposure</a:t>
            </a:r>
            <a:endParaRPr lang="en-US" sz="820" dirty="0"/>
          </a:p>
        </p:txBody>
      </p:sp>
      <p:sp>
        <p:nvSpPr>
          <p:cNvPr id="110" name="Text 107"/>
          <p:cNvSpPr/>
          <p:nvPr/>
        </p:nvSpPr>
        <p:spPr>
          <a:xfrm>
            <a:off x="5815584" y="43159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Funding</a:t>
            </a:r>
            <a:endParaRPr lang="en-US" sz="820" dirty="0"/>
          </a:p>
        </p:txBody>
      </p:sp>
      <p:sp>
        <p:nvSpPr>
          <p:cNvPr id="111" name="Text 108"/>
          <p:cNvSpPr/>
          <p:nvPr/>
        </p:nvSpPr>
        <p:spPr>
          <a:xfrm>
            <a:off x="6638544" y="43159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+$412k</a:t>
            </a:r>
            <a:endParaRPr lang="en-US" sz="820" dirty="0"/>
          </a:p>
        </p:txBody>
      </p:sp>
      <p:sp>
        <p:nvSpPr>
          <p:cNvPr id="112" name="Text 109"/>
          <p:cNvSpPr/>
          <p:nvPr/>
        </p:nvSpPr>
        <p:spPr>
          <a:xfrm>
            <a:off x="7205472" y="43159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$8.2m</a:t>
            </a:r>
            <a:endParaRPr lang="en-US" sz="820" dirty="0"/>
          </a:p>
        </p:txBody>
      </p:sp>
      <p:sp>
        <p:nvSpPr>
          <p:cNvPr id="113" name="Text 110"/>
          <p:cNvSpPr/>
          <p:nvPr/>
        </p:nvSpPr>
        <p:spPr>
          <a:xfrm>
            <a:off x="5815584" y="45628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Basis</a:t>
            </a:r>
            <a:endParaRPr lang="en-US" sz="820" dirty="0"/>
          </a:p>
        </p:txBody>
      </p:sp>
      <p:sp>
        <p:nvSpPr>
          <p:cNvPr id="114" name="Text 111"/>
          <p:cNvSpPr/>
          <p:nvPr/>
        </p:nvSpPr>
        <p:spPr>
          <a:xfrm>
            <a:off x="6638544" y="45628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+$355k</a:t>
            </a:r>
            <a:endParaRPr lang="en-US" sz="820" dirty="0"/>
          </a:p>
        </p:txBody>
      </p:sp>
      <p:sp>
        <p:nvSpPr>
          <p:cNvPr id="115" name="Text 112"/>
          <p:cNvSpPr/>
          <p:nvPr/>
        </p:nvSpPr>
        <p:spPr>
          <a:xfrm>
            <a:off x="7205472" y="45628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bps</a:t>
            </a:r>
            <a:endParaRPr lang="en-US" sz="820" dirty="0"/>
          </a:p>
        </p:txBody>
      </p:sp>
      <p:sp>
        <p:nvSpPr>
          <p:cNvPr id="116" name="Text 113"/>
          <p:cNvSpPr/>
          <p:nvPr/>
        </p:nvSpPr>
        <p:spPr>
          <a:xfrm>
            <a:off x="5815584" y="48097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Staking</a:t>
            </a:r>
            <a:endParaRPr lang="en-US" sz="820" dirty="0"/>
          </a:p>
        </p:txBody>
      </p:sp>
      <p:sp>
        <p:nvSpPr>
          <p:cNvPr id="117" name="Text 114"/>
          <p:cNvSpPr/>
          <p:nvPr/>
        </p:nvSpPr>
        <p:spPr>
          <a:xfrm>
            <a:off x="6638544" y="480974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+$145k</a:t>
            </a:r>
            <a:endParaRPr lang="en-US" sz="820" dirty="0"/>
          </a:p>
        </p:txBody>
      </p:sp>
      <p:sp>
        <p:nvSpPr>
          <p:cNvPr id="118" name="Text 115"/>
          <p:cNvSpPr/>
          <p:nvPr/>
        </p:nvSpPr>
        <p:spPr>
          <a:xfrm>
            <a:off x="7205472" y="480974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LTV .72</a:t>
            </a:r>
            <a:endParaRPr lang="en-US" sz="820" dirty="0"/>
          </a:p>
        </p:txBody>
      </p:sp>
      <p:sp>
        <p:nvSpPr>
          <p:cNvPr id="119" name="Text 116"/>
          <p:cNvSpPr/>
          <p:nvPr/>
        </p:nvSpPr>
        <p:spPr>
          <a:xfrm>
            <a:off x="5815584" y="5056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Delta</a:t>
            </a:r>
            <a:endParaRPr lang="en-US" sz="820" dirty="0"/>
          </a:p>
        </p:txBody>
      </p:sp>
      <p:sp>
        <p:nvSpPr>
          <p:cNvPr id="120" name="Text 117"/>
          <p:cNvSpPr/>
          <p:nvPr/>
        </p:nvSpPr>
        <p:spPr>
          <a:xfrm>
            <a:off x="6638544" y="50566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+$61k</a:t>
            </a:r>
            <a:endParaRPr lang="en-US" sz="820" dirty="0"/>
          </a:p>
        </p:txBody>
      </p:sp>
      <p:sp>
        <p:nvSpPr>
          <p:cNvPr id="121" name="Text 118"/>
          <p:cNvSpPr/>
          <p:nvPr/>
        </p:nvSpPr>
        <p:spPr>
          <a:xfrm>
            <a:off x="7205472" y="505663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$2.4m</a:t>
            </a:r>
            <a:endParaRPr lang="en-US" sz="820" dirty="0"/>
          </a:p>
        </p:txBody>
      </p:sp>
      <p:sp>
        <p:nvSpPr>
          <p:cNvPr id="122" name="Text 119"/>
          <p:cNvSpPr/>
          <p:nvPr/>
        </p:nvSpPr>
        <p:spPr>
          <a:xfrm>
            <a:off x="5815584" y="53035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Greeks</a:t>
            </a:r>
            <a:endParaRPr lang="en-US" sz="820" dirty="0"/>
          </a:p>
        </p:txBody>
      </p:sp>
      <p:sp>
        <p:nvSpPr>
          <p:cNvPr id="123" name="Text 120"/>
          <p:cNvSpPr/>
          <p:nvPr/>
        </p:nvSpPr>
        <p:spPr>
          <a:xfrm>
            <a:off x="6638544" y="53035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71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-$8k</a:t>
            </a:r>
            <a:endParaRPr lang="en-US" sz="820" dirty="0"/>
          </a:p>
        </p:txBody>
      </p:sp>
      <p:sp>
        <p:nvSpPr>
          <p:cNvPr id="124" name="Text 121"/>
          <p:cNvSpPr/>
          <p:nvPr/>
        </p:nvSpPr>
        <p:spPr>
          <a:xfrm>
            <a:off x="7205472" y="530352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Δ -0.98</a:t>
            </a:r>
            <a:endParaRPr lang="en-US" sz="820" dirty="0"/>
          </a:p>
        </p:txBody>
      </p:sp>
      <p:sp>
        <p:nvSpPr>
          <p:cNvPr id="125" name="Text 122"/>
          <p:cNvSpPr/>
          <p:nvPr/>
        </p:nvSpPr>
        <p:spPr>
          <a:xfrm>
            <a:off x="5815584" y="55504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</a:t>
            </a:r>
            <a:endParaRPr lang="en-US" sz="820" dirty="0"/>
          </a:p>
        </p:txBody>
      </p:sp>
      <p:sp>
        <p:nvSpPr>
          <p:cNvPr id="126" name="Text 123"/>
          <p:cNvSpPr/>
          <p:nvPr/>
        </p:nvSpPr>
        <p:spPr>
          <a:xfrm>
            <a:off x="6638544" y="555040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717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-$18k</a:t>
            </a:r>
            <a:endParaRPr lang="en-US" sz="820" dirty="0"/>
          </a:p>
        </p:txBody>
      </p:sp>
      <p:sp>
        <p:nvSpPr>
          <p:cNvPr id="127" name="Text 124"/>
          <p:cNvSpPr/>
          <p:nvPr/>
        </p:nvSpPr>
        <p:spPr>
          <a:xfrm>
            <a:off x="7205472" y="55504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brks</a:t>
            </a:r>
            <a:endParaRPr lang="en-US" sz="820" dirty="0"/>
          </a:p>
        </p:txBody>
      </p:sp>
      <p:sp>
        <p:nvSpPr>
          <p:cNvPr id="128" name="Shape 125"/>
          <p:cNvSpPr/>
          <p:nvPr/>
        </p:nvSpPr>
        <p:spPr>
          <a:xfrm>
            <a:off x="8577072" y="3547872"/>
            <a:ext cx="2724912" cy="1152144"/>
          </a:xfrm>
          <a:prstGeom prst="roundRect">
            <a:avLst>
              <a:gd name="adj" fmla="val 6349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8759952" y="37307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Alerts &amp; incidents</a:t>
            </a:r>
            <a:endParaRPr lang="en-US" sz="1150" dirty="0"/>
          </a:p>
        </p:txBody>
      </p:sp>
      <p:sp>
        <p:nvSpPr>
          <p:cNvPr id="130" name="Text 127"/>
          <p:cNvSpPr/>
          <p:nvPr/>
        </p:nvSpPr>
        <p:spPr>
          <a:xfrm>
            <a:off x="8759952" y="40416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</a:rPr>
              <a:t>● CRIT  Kill switch armed — BTC Basis v3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</a:rPr>
              <a:t>▲ HIGH  Feature freshness 92s lag in EU shard</a:t>
            </a:r>
            <a:endParaRPr lang="en-US" sz="810" dirty="0"/>
          </a:p>
        </p:txBody>
      </p:sp>
      <p:sp>
        <p:nvSpPr>
          <p:cNvPr id="131" name="Shape 128"/>
          <p:cNvSpPr/>
          <p:nvPr/>
        </p:nvSpPr>
        <p:spPr>
          <a:xfrm>
            <a:off x="8577072" y="4846320"/>
            <a:ext cx="2724912" cy="640080"/>
          </a:xfrm>
          <a:prstGeom prst="roundRect">
            <a:avLst>
              <a:gd name="adj" fmla="val 11429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8759952" y="502920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F7FA"/>
                </a:solidFill>
              </a:rPr>
              <a:t>Health &amp; feature freshness</a:t>
            </a:r>
            <a:endParaRPr lang="en-US" sz="1120" dirty="0"/>
          </a:p>
        </p:txBody>
      </p:sp>
      <p:sp>
        <p:nvSpPr>
          <p:cNvPr id="133" name="Text 130"/>
          <p:cNvSpPr/>
          <p:nvPr/>
        </p:nvSpPr>
        <p:spPr>
          <a:xfrm>
            <a:off x="8759952" y="52852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features-d1   92s   ▲ lag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execution     2s    ● ok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risk-exp      4s    ● ok</a:t>
            </a:r>
            <a:endParaRPr lang="en-US" sz="800" dirty="0"/>
          </a:p>
        </p:txBody>
      </p:sp>
      <p:sp>
        <p:nvSpPr>
          <p:cNvPr id="134" name="Shape 131"/>
          <p:cNvSpPr/>
          <p:nvPr/>
        </p:nvSpPr>
        <p:spPr>
          <a:xfrm>
            <a:off x="841248" y="5650992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1024128" y="57972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Kill switch / intervention panel</a:t>
            </a:r>
            <a:endParaRPr lang="en-US" sz="1150" dirty="0"/>
          </a:p>
        </p:txBody>
      </p:sp>
      <p:sp>
        <p:nvSpPr>
          <p:cNvPr id="136" name="Shape 133"/>
          <p:cNvSpPr/>
          <p:nvPr/>
        </p:nvSpPr>
        <p:spPr>
          <a:xfrm>
            <a:off x="1024128" y="6016752"/>
            <a:ext cx="658368" cy="256032"/>
          </a:xfrm>
          <a:prstGeom prst="roundRect">
            <a:avLst>
              <a:gd name="adj" fmla="val 35714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1097280" y="606704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Fund</a:t>
            </a:r>
            <a:endParaRPr lang="en-US" sz="820" dirty="0"/>
          </a:p>
        </p:txBody>
      </p:sp>
      <p:sp>
        <p:nvSpPr>
          <p:cNvPr id="138" name="Shape 135"/>
          <p:cNvSpPr/>
          <p:nvPr/>
        </p:nvSpPr>
        <p:spPr>
          <a:xfrm>
            <a:off x="1737360" y="6016752"/>
            <a:ext cx="749808" cy="256032"/>
          </a:xfrm>
          <a:prstGeom prst="roundRect">
            <a:avLst>
              <a:gd name="adj" fmla="val 35714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1810512" y="6067044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</a:t>
            </a:r>
            <a:endParaRPr lang="en-US" sz="820" dirty="0"/>
          </a:p>
        </p:txBody>
      </p:sp>
      <p:sp>
        <p:nvSpPr>
          <p:cNvPr id="140" name="Shape 137"/>
          <p:cNvSpPr/>
          <p:nvPr/>
        </p:nvSpPr>
        <p:spPr>
          <a:xfrm>
            <a:off x="2560320" y="6016752"/>
            <a:ext cx="859536" cy="256032"/>
          </a:xfrm>
          <a:prstGeom prst="roundRect">
            <a:avLst>
              <a:gd name="adj" fmla="val 35714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2633472" y="60670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820" dirty="0"/>
          </a:p>
        </p:txBody>
      </p:sp>
      <p:sp>
        <p:nvSpPr>
          <p:cNvPr id="142" name="Shape 139"/>
          <p:cNvSpPr/>
          <p:nvPr/>
        </p:nvSpPr>
        <p:spPr>
          <a:xfrm>
            <a:off x="3493008" y="6016752"/>
            <a:ext cx="658368" cy="256032"/>
          </a:xfrm>
          <a:prstGeom prst="roundRect">
            <a:avLst>
              <a:gd name="adj" fmla="val 35714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3566160" y="606704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Venue</a:t>
            </a:r>
            <a:endParaRPr lang="en-US" sz="820" dirty="0"/>
          </a:p>
        </p:txBody>
      </p:sp>
      <p:sp>
        <p:nvSpPr>
          <p:cNvPr id="144" name="Text 141"/>
          <p:cNvSpPr/>
          <p:nvPr/>
        </p:nvSpPr>
        <p:spPr>
          <a:xfrm>
            <a:off x="1024128" y="623620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3A3B2"/>
                </a:solidFill>
              </a:rPr>
              <a:t>Pause strategy  •  Cancel orders  •  Flatten exposure  •  Disable venue</a:t>
            </a:r>
            <a:endParaRPr lang="en-US" sz="880" dirty="0"/>
          </a:p>
        </p:txBody>
      </p:sp>
      <p:sp>
        <p:nvSpPr>
          <p:cNvPr id="145" name="Shape 142"/>
          <p:cNvSpPr/>
          <p:nvPr/>
        </p:nvSpPr>
        <p:spPr>
          <a:xfrm>
            <a:off x="10314432" y="5650992"/>
            <a:ext cx="987552" cy="530352"/>
          </a:xfrm>
          <a:prstGeom prst="roundRect">
            <a:avLst>
              <a:gd name="adj" fmla="val 13793"/>
            </a:avLst>
          </a:prstGeom>
          <a:solidFill>
            <a:srgbClr val="22D3EE">
              <a:alpha val="10000"/>
            </a:srgbClr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10497312" y="579729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5F7FA"/>
                </a:solidFill>
              </a:rPr>
              <a:t>Why it feels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5F7FA"/>
                </a:solidFill>
              </a:rPr>
              <a:t>“neat”</a:t>
            </a:r>
            <a:endParaRPr lang="en-US" sz="940" dirty="0"/>
          </a:p>
        </p:txBody>
      </p:sp>
      <p:sp>
        <p:nvSpPr>
          <p:cNvPr id="147" name="Shape 144"/>
          <p:cNvSpPr/>
          <p:nvPr/>
        </p:nvSpPr>
        <p:spPr>
          <a:xfrm>
            <a:off x="10277856" y="5907024"/>
            <a:ext cx="-1417320" cy="-1389888"/>
          </a:xfrm>
          <a:prstGeom prst="line">
            <a:avLst/>
          </a:prstGeom>
          <a:noFill/>
          <a:ln w="13970">
            <a:solidFill>
              <a:srgbClr val="22D3EE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3891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surface 02 — Strategy Analytics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quant surface: catalogue → backtests → DimensionalGrid → candidate selection → promotion to live.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48640" y="1353312"/>
            <a:ext cx="11064240" cy="5175504"/>
          </a:xfrm>
          <a:prstGeom prst="roundRect">
            <a:avLst>
              <a:gd name="adj" fmla="val 1413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" y="1444752"/>
            <a:ext cx="11045952" cy="347472"/>
          </a:xfrm>
          <a:prstGeom prst="roundRect">
            <a:avLst>
              <a:gd name="adj" fmla="val 21053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Trading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1444752" y="1490472"/>
            <a:ext cx="987552" cy="219456"/>
          </a:xfrm>
          <a:prstGeom prst="roundRect">
            <a:avLst>
              <a:gd name="adj" fmla="val 33333"/>
            </a:avLst>
          </a:prstGeom>
          <a:solidFill>
            <a:srgbClr val="60A5FA">
              <a:alpha val="14000"/>
            </a:srgbClr>
          </a:solidFill>
          <a:ln w="12700">
            <a:solidFill>
              <a:srgbClr val="60A5FA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17904" y="153619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2487168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78B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Markets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3200400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3913632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4626864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5340096" y="153619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10222992" y="1490472"/>
            <a:ext cx="1143000" cy="219456"/>
          </a:xfrm>
          <a:prstGeom prst="roundRect">
            <a:avLst>
              <a:gd name="adj" fmla="val 29167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60152" y="15407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⌕  Search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86384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0976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</a:t>
            </a:r>
            <a:endParaRPr lang="en-US" sz="810" dirty="0"/>
          </a:p>
        </p:txBody>
      </p:sp>
      <p:sp>
        <p:nvSpPr>
          <p:cNvPr id="19" name="Shape 16"/>
          <p:cNvSpPr/>
          <p:nvPr/>
        </p:nvSpPr>
        <p:spPr>
          <a:xfrm>
            <a:off x="1673352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048256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12848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</a:t>
            </a:r>
            <a:endParaRPr lang="en-US" sz="810" dirty="0"/>
          </a:p>
        </p:txBody>
      </p:sp>
      <p:sp>
        <p:nvSpPr>
          <p:cNvPr id="22" name="Shape 19"/>
          <p:cNvSpPr/>
          <p:nvPr/>
        </p:nvSpPr>
        <p:spPr>
          <a:xfrm>
            <a:off x="2935224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10128" y="184708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0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</a:t>
            </a:r>
            <a:endParaRPr lang="en-US" sz="810" dirty="0"/>
          </a:p>
        </p:txBody>
      </p:sp>
      <p:sp>
        <p:nvSpPr>
          <p:cNvPr id="25" name="Shape 22"/>
          <p:cNvSpPr/>
          <p:nvPr/>
        </p:nvSpPr>
        <p:spPr>
          <a:xfrm>
            <a:off x="4197096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0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6592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</a:t>
            </a:r>
            <a:endParaRPr lang="en-US" sz="810" dirty="0"/>
          </a:p>
        </p:txBody>
      </p:sp>
      <p:sp>
        <p:nvSpPr>
          <p:cNvPr id="28" name="Shape 25"/>
          <p:cNvSpPr/>
          <p:nvPr/>
        </p:nvSpPr>
        <p:spPr>
          <a:xfrm>
            <a:off x="5458968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33872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810" dirty="0"/>
          </a:p>
        </p:txBody>
      </p:sp>
      <p:sp>
        <p:nvSpPr>
          <p:cNvPr id="31" name="Shape 28"/>
          <p:cNvSpPr/>
          <p:nvPr/>
        </p:nvSpPr>
        <p:spPr>
          <a:xfrm>
            <a:off x="6720840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95744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260336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</a:t>
            </a:r>
            <a:endParaRPr lang="en-US" sz="810" dirty="0"/>
          </a:p>
        </p:txBody>
      </p:sp>
      <p:sp>
        <p:nvSpPr>
          <p:cNvPr id="34" name="Shape 31"/>
          <p:cNvSpPr/>
          <p:nvPr/>
        </p:nvSpPr>
        <p:spPr>
          <a:xfrm>
            <a:off x="7982712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57616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22208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Reconcile</a:t>
            </a:r>
            <a:endParaRPr lang="en-US" sz="810" dirty="0"/>
          </a:p>
        </p:txBody>
      </p:sp>
      <p:sp>
        <p:nvSpPr>
          <p:cNvPr id="37" name="Shape 34"/>
          <p:cNvSpPr/>
          <p:nvPr/>
        </p:nvSpPr>
        <p:spPr>
          <a:xfrm>
            <a:off x="749808" y="2139696"/>
            <a:ext cx="5760720" cy="274320"/>
          </a:xfrm>
          <a:prstGeom prst="roundRect">
            <a:avLst>
              <a:gd name="adj" fmla="val 26667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7824" y="2203704"/>
            <a:ext cx="5440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 Analytics  &gt;  BTC Basis v3  &gt;  grid  &gt;  selected candidates</a:t>
            </a:r>
            <a:endParaRPr lang="en-US" sz="820" dirty="0"/>
          </a:p>
        </p:txBody>
      </p:sp>
      <p:sp>
        <p:nvSpPr>
          <p:cNvPr id="39" name="Shape 36"/>
          <p:cNvSpPr/>
          <p:nvPr/>
        </p:nvSpPr>
        <p:spPr>
          <a:xfrm>
            <a:off x="822960" y="2505456"/>
            <a:ext cx="2395728" cy="1078992"/>
          </a:xfrm>
          <a:prstGeom prst="roundRect">
            <a:avLst>
              <a:gd name="adj" fmla="val 6780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7552" y="26883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Catalogue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987552" y="298094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BTC Basis v3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ETH Staked Basis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AAVE Lending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ML Direction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2084832" y="2688336"/>
            <a:ext cx="694944" cy="256032"/>
          </a:xfrm>
          <a:prstGeom prst="roundRect">
            <a:avLst>
              <a:gd name="adj" fmla="val 35714"/>
            </a:avLst>
          </a:prstGeom>
          <a:solidFill>
            <a:srgbClr val="60A5FA">
              <a:alpha val="18000"/>
            </a:srgbClr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157984" y="27386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2084832" y="2980944"/>
            <a:ext cx="694944" cy="256032"/>
          </a:xfrm>
          <a:prstGeom prst="roundRect">
            <a:avLst>
              <a:gd name="adj" fmla="val 35714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157984" y="303123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2084832" y="3273552"/>
            <a:ext cx="694944" cy="256032"/>
          </a:xfrm>
          <a:prstGeom prst="roundRect">
            <a:avLst>
              <a:gd name="adj" fmla="val 35714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157984" y="332384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3456432" y="2505456"/>
            <a:ext cx="7662672" cy="1078992"/>
          </a:xfrm>
          <a:prstGeom prst="roundRect">
            <a:avLst>
              <a:gd name="adj" fmla="val 6780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639312" y="26883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F5F7FA"/>
                </a:solidFill>
              </a:rPr>
              <a:t>DimensionalGrid — the killer feature</a:t>
            </a:r>
            <a:endParaRPr lang="en-US" sz="1160" dirty="0"/>
          </a:p>
        </p:txBody>
      </p:sp>
      <p:sp>
        <p:nvSpPr>
          <p:cNvPr id="50" name="Shape 47"/>
          <p:cNvSpPr/>
          <p:nvPr/>
        </p:nvSpPr>
        <p:spPr>
          <a:xfrm>
            <a:off x="3657600" y="3017520"/>
            <a:ext cx="804672" cy="219456"/>
          </a:xfrm>
          <a:prstGeom prst="roundRect">
            <a:avLst>
              <a:gd name="adj" fmla="val 3333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730752" y="3067812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Instrument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4535424" y="301752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08576" y="306781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Venue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175504" y="3017520"/>
            <a:ext cx="676656" cy="219456"/>
          </a:xfrm>
          <a:prstGeom prst="roundRect">
            <a:avLst>
              <a:gd name="adj" fmla="val 33333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248656" y="306781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5925312" y="301752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998464" y="306781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565392" y="301752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638544" y="3067812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9473184" y="2706624"/>
            <a:ext cx="822960" cy="256032"/>
          </a:xfrm>
          <a:prstGeom prst="roundRect">
            <a:avLst>
              <a:gd name="adj" fmla="val 35714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546336" y="275691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Heatmap</a:t>
            </a:r>
            <a:endParaRPr lang="en-US" sz="820" dirty="0"/>
          </a:p>
        </p:txBody>
      </p:sp>
      <p:sp>
        <p:nvSpPr>
          <p:cNvPr id="62" name="Shape 59"/>
          <p:cNvSpPr/>
          <p:nvPr/>
        </p:nvSpPr>
        <p:spPr>
          <a:xfrm>
            <a:off x="10369296" y="2706624"/>
            <a:ext cx="713232" cy="256032"/>
          </a:xfrm>
          <a:prstGeom prst="roundRect">
            <a:avLst>
              <a:gd name="adj" fmla="val 35714"/>
            </a:avLst>
          </a:prstGeom>
          <a:solidFill>
            <a:srgbClr val="A3A3B2">
              <a:alpha val="18000"/>
            </a:srgbClr>
          </a:solidFill>
          <a:ln w="12700">
            <a:solidFill>
              <a:srgbClr val="A3A3B2">
                <a:alpha val="30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0442448" y="275691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</a:t>
            </a:r>
            <a:endParaRPr lang="en-US" sz="820" dirty="0"/>
          </a:p>
        </p:txBody>
      </p:sp>
      <p:sp>
        <p:nvSpPr>
          <p:cNvPr id="64" name="Shape 61"/>
          <p:cNvSpPr/>
          <p:nvPr/>
        </p:nvSpPr>
        <p:spPr>
          <a:xfrm>
            <a:off x="822960" y="3749040"/>
            <a:ext cx="7726680" cy="2468880"/>
          </a:xfrm>
          <a:prstGeom prst="roundRect">
            <a:avLst>
              <a:gd name="adj" fmla="val 296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87552" y="396849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☐</a:t>
            </a:r>
            <a:endParaRPr lang="en-US" sz="820" dirty="0"/>
          </a:p>
        </p:txBody>
      </p:sp>
      <p:sp>
        <p:nvSpPr>
          <p:cNvPr id="66" name="Text 63"/>
          <p:cNvSpPr/>
          <p:nvPr/>
        </p:nvSpPr>
        <p:spPr>
          <a:xfrm>
            <a:off x="1225296" y="3968496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</a:t>
            </a:r>
            <a:endParaRPr lang="en-US" sz="820" dirty="0"/>
          </a:p>
        </p:txBody>
      </p:sp>
      <p:sp>
        <p:nvSpPr>
          <p:cNvPr id="67" name="Text 64"/>
          <p:cNvSpPr/>
          <p:nvPr/>
        </p:nvSpPr>
        <p:spPr>
          <a:xfrm>
            <a:off x="1993392" y="396849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820" dirty="0"/>
          </a:p>
        </p:txBody>
      </p:sp>
      <p:sp>
        <p:nvSpPr>
          <p:cNvPr id="68" name="Text 65"/>
          <p:cNvSpPr/>
          <p:nvPr/>
        </p:nvSpPr>
        <p:spPr>
          <a:xfrm>
            <a:off x="3145536" y="396849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</a:t>
            </a:r>
            <a:endParaRPr lang="en-US" sz="820" dirty="0"/>
          </a:p>
        </p:txBody>
      </p:sp>
      <p:sp>
        <p:nvSpPr>
          <p:cNvPr id="69" name="Text 66"/>
          <p:cNvSpPr/>
          <p:nvPr/>
        </p:nvSpPr>
        <p:spPr>
          <a:xfrm>
            <a:off x="3931920" y="39684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Venue</a:t>
            </a:r>
            <a:endParaRPr lang="en-US" sz="820" dirty="0"/>
          </a:p>
        </p:txBody>
      </p:sp>
      <p:sp>
        <p:nvSpPr>
          <p:cNvPr id="70" name="Text 67"/>
          <p:cNvSpPr/>
          <p:nvPr/>
        </p:nvSpPr>
        <p:spPr>
          <a:xfrm>
            <a:off x="4846320" y="396849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Shard</a:t>
            </a:r>
            <a:endParaRPr lang="en-US" sz="820" dirty="0"/>
          </a:p>
        </p:txBody>
      </p:sp>
      <p:sp>
        <p:nvSpPr>
          <p:cNvPr id="71" name="Text 68"/>
          <p:cNvSpPr/>
          <p:nvPr/>
        </p:nvSpPr>
        <p:spPr>
          <a:xfrm>
            <a:off x="5413248" y="39684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Sharpe</a:t>
            </a:r>
            <a:endParaRPr lang="en-US" sz="820" dirty="0"/>
          </a:p>
        </p:txBody>
      </p:sp>
      <p:sp>
        <p:nvSpPr>
          <p:cNvPr id="72" name="Text 69"/>
          <p:cNvSpPr/>
          <p:nvPr/>
        </p:nvSpPr>
        <p:spPr>
          <a:xfrm>
            <a:off x="5943600" y="39684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PnL</a:t>
            </a:r>
            <a:endParaRPr lang="en-US" sz="820" dirty="0"/>
          </a:p>
        </p:txBody>
      </p:sp>
      <p:sp>
        <p:nvSpPr>
          <p:cNvPr id="73" name="Shape 70"/>
          <p:cNvSpPr/>
          <p:nvPr/>
        </p:nvSpPr>
        <p:spPr>
          <a:xfrm>
            <a:off x="932688" y="4215384"/>
            <a:ext cx="7461504" cy="237744"/>
          </a:xfrm>
          <a:prstGeom prst="rect">
            <a:avLst/>
          </a:prstGeom>
          <a:solidFill>
            <a:srgbClr val="22D3EE">
              <a:alpha val="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87552" y="426110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☑</a:t>
            </a:r>
            <a:endParaRPr lang="en-US" sz="820" dirty="0"/>
          </a:p>
        </p:txBody>
      </p:sp>
      <p:sp>
        <p:nvSpPr>
          <p:cNvPr id="75" name="Text 72"/>
          <p:cNvSpPr/>
          <p:nvPr/>
        </p:nvSpPr>
        <p:spPr>
          <a:xfrm>
            <a:off x="1225296" y="426110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exp-221</a:t>
            </a:r>
            <a:endParaRPr lang="en-US" sz="820" dirty="0"/>
          </a:p>
        </p:txBody>
      </p:sp>
      <p:sp>
        <p:nvSpPr>
          <p:cNvPr id="76" name="Text 73"/>
          <p:cNvSpPr/>
          <p:nvPr/>
        </p:nvSpPr>
        <p:spPr>
          <a:xfrm>
            <a:off x="1993392" y="4261104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BTC Basis v3</a:t>
            </a:r>
            <a:endParaRPr lang="en-US" sz="820" dirty="0"/>
          </a:p>
        </p:txBody>
      </p:sp>
      <p:sp>
        <p:nvSpPr>
          <p:cNvPr id="77" name="Text 74"/>
          <p:cNvSpPr/>
          <p:nvPr/>
        </p:nvSpPr>
        <p:spPr>
          <a:xfrm>
            <a:off x="3145536" y="426110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3.3.0-rc1</a:t>
            </a:r>
            <a:endParaRPr lang="en-US" sz="820" dirty="0"/>
          </a:p>
        </p:txBody>
      </p:sp>
      <p:sp>
        <p:nvSpPr>
          <p:cNvPr id="78" name="Text 75"/>
          <p:cNvSpPr/>
          <p:nvPr/>
        </p:nvSpPr>
        <p:spPr>
          <a:xfrm>
            <a:off x="3931920" y="42611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Bin/Bybit</a:t>
            </a:r>
            <a:endParaRPr lang="en-US" sz="820" dirty="0"/>
          </a:p>
        </p:txBody>
      </p:sp>
      <p:sp>
        <p:nvSpPr>
          <p:cNvPr id="79" name="Text 76"/>
          <p:cNvSpPr/>
          <p:nvPr/>
        </p:nvSpPr>
        <p:spPr>
          <a:xfrm>
            <a:off x="4846320" y="42611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2025Q4</a:t>
            </a:r>
            <a:endParaRPr lang="en-US" sz="820" dirty="0"/>
          </a:p>
        </p:txBody>
      </p:sp>
      <p:sp>
        <p:nvSpPr>
          <p:cNvPr id="80" name="Text 77"/>
          <p:cNvSpPr/>
          <p:nvPr/>
        </p:nvSpPr>
        <p:spPr>
          <a:xfrm>
            <a:off x="5413248" y="426110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2.1</a:t>
            </a:r>
            <a:endParaRPr lang="en-US" sz="820" dirty="0"/>
          </a:p>
        </p:txBody>
      </p:sp>
      <p:sp>
        <p:nvSpPr>
          <p:cNvPr id="81" name="Text 78"/>
          <p:cNvSpPr/>
          <p:nvPr/>
        </p:nvSpPr>
        <p:spPr>
          <a:xfrm>
            <a:off x="5943600" y="42611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+$1.8m</a:t>
            </a:r>
            <a:endParaRPr lang="en-US" sz="820" dirty="0"/>
          </a:p>
        </p:txBody>
      </p:sp>
      <p:sp>
        <p:nvSpPr>
          <p:cNvPr id="82" name="Shape 79"/>
          <p:cNvSpPr/>
          <p:nvPr/>
        </p:nvSpPr>
        <p:spPr>
          <a:xfrm>
            <a:off x="932688" y="4617720"/>
            <a:ext cx="7461504" cy="237744"/>
          </a:xfrm>
          <a:prstGeom prst="rect">
            <a:avLst/>
          </a:prstGeom>
          <a:solidFill>
            <a:srgbClr val="22D3EE">
              <a:alpha val="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87552" y="466344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☑</a:t>
            </a:r>
            <a:endParaRPr lang="en-US" sz="820" dirty="0"/>
          </a:p>
        </p:txBody>
      </p:sp>
      <p:sp>
        <p:nvSpPr>
          <p:cNvPr id="84" name="Text 81"/>
          <p:cNvSpPr/>
          <p:nvPr/>
        </p:nvSpPr>
        <p:spPr>
          <a:xfrm>
            <a:off x="1225296" y="466344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exp-301</a:t>
            </a:r>
            <a:endParaRPr lang="en-US" sz="820" dirty="0"/>
          </a:p>
        </p:txBody>
      </p:sp>
      <p:sp>
        <p:nvSpPr>
          <p:cNvPr id="85" name="Text 82"/>
          <p:cNvSpPr/>
          <p:nvPr/>
        </p:nvSpPr>
        <p:spPr>
          <a:xfrm>
            <a:off x="1993392" y="466344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 Staked</a:t>
            </a:r>
            <a:endParaRPr lang="en-US" sz="820" dirty="0"/>
          </a:p>
        </p:txBody>
      </p:sp>
      <p:sp>
        <p:nvSpPr>
          <p:cNvPr id="86" name="Text 83"/>
          <p:cNvSpPr/>
          <p:nvPr/>
        </p:nvSpPr>
        <p:spPr>
          <a:xfrm>
            <a:off x="3145536" y="466344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2.5.0</a:t>
            </a:r>
            <a:endParaRPr lang="en-US" sz="820" dirty="0"/>
          </a:p>
        </p:txBody>
      </p:sp>
      <p:sp>
        <p:nvSpPr>
          <p:cNvPr id="87" name="Text 84"/>
          <p:cNvSpPr/>
          <p:nvPr/>
        </p:nvSpPr>
        <p:spPr>
          <a:xfrm>
            <a:off x="3931920" y="4663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Aave/HL</a:t>
            </a:r>
            <a:endParaRPr lang="en-US" sz="820" dirty="0"/>
          </a:p>
        </p:txBody>
      </p:sp>
      <p:sp>
        <p:nvSpPr>
          <p:cNvPr id="88" name="Text 85"/>
          <p:cNvSpPr/>
          <p:nvPr/>
        </p:nvSpPr>
        <p:spPr>
          <a:xfrm>
            <a:off x="4846320" y="46634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2026Q1</a:t>
            </a:r>
            <a:endParaRPr lang="en-US" sz="820" dirty="0"/>
          </a:p>
        </p:txBody>
      </p:sp>
      <p:sp>
        <p:nvSpPr>
          <p:cNvPr id="89" name="Text 86"/>
          <p:cNvSpPr/>
          <p:nvPr/>
        </p:nvSpPr>
        <p:spPr>
          <a:xfrm>
            <a:off x="5413248" y="46634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2.5</a:t>
            </a:r>
            <a:endParaRPr lang="en-US" sz="820" dirty="0"/>
          </a:p>
        </p:txBody>
      </p:sp>
      <p:sp>
        <p:nvSpPr>
          <p:cNvPr id="90" name="Text 87"/>
          <p:cNvSpPr/>
          <p:nvPr/>
        </p:nvSpPr>
        <p:spPr>
          <a:xfrm>
            <a:off x="5943600" y="46634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+$2.4m</a:t>
            </a:r>
            <a:endParaRPr lang="en-US" sz="820" dirty="0"/>
          </a:p>
        </p:txBody>
      </p:sp>
      <p:sp>
        <p:nvSpPr>
          <p:cNvPr id="91" name="Text 88"/>
          <p:cNvSpPr/>
          <p:nvPr/>
        </p:nvSpPr>
        <p:spPr>
          <a:xfrm>
            <a:off x="987552" y="506577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☐</a:t>
            </a:r>
            <a:endParaRPr lang="en-US" sz="820" dirty="0"/>
          </a:p>
        </p:txBody>
      </p:sp>
      <p:sp>
        <p:nvSpPr>
          <p:cNvPr id="92" name="Text 89"/>
          <p:cNvSpPr/>
          <p:nvPr/>
        </p:nvSpPr>
        <p:spPr>
          <a:xfrm>
            <a:off x="1225296" y="5065776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exp-222</a:t>
            </a:r>
            <a:endParaRPr lang="en-US" sz="820" dirty="0"/>
          </a:p>
        </p:txBody>
      </p:sp>
      <p:sp>
        <p:nvSpPr>
          <p:cNvPr id="93" name="Text 90"/>
          <p:cNvSpPr/>
          <p:nvPr/>
        </p:nvSpPr>
        <p:spPr>
          <a:xfrm>
            <a:off x="1993392" y="506577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BTC Basis v3</a:t>
            </a:r>
            <a:endParaRPr lang="en-US" sz="820" dirty="0"/>
          </a:p>
        </p:txBody>
      </p:sp>
      <p:sp>
        <p:nvSpPr>
          <p:cNvPr id="94" name="Text 91"/>
          <p:cNvSpPr/>
          <p:nvPr/>
        </p:nvSpPr>
        <p:spPr>
          <a:xfrm>
            <a:off x="3145536" y="506577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3.3.0-rc2</a:t>
            </a:r>
            <a:endParaRPr lang="en-US" sz="820" dirty="0"/>
          </a:p>
        </p:txBody>
      </p:sp>
      <p:sp>
        <p:nvSpPr>
          <p:cNvPr id="95" name="Text 92"/>
          <p:cNvSpPr/>
          <p:nvPr/>
        </p:nvSpPr>
        <p:spPr>
          <a:xfrm>
            <a:off x="3931920" y="50657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Bin/OKX</a:t>
            </a:r>
            <a:endParaRPr lang="en-US" sz="820" dirty="0"/>
          </a:p>
        </p:txBody>
      </p:sp>
      <p:sp>
        <p:nvSpPr>
          <p:cNvPr id="96" name="Text 93"/>
          <p:cNvSpPr/>
          <p:nvPr/>
        </p:nvSpPr>
        <p:spPr>
          <a:xfrm>
            <a:off x="4846320" y="506577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2026Q1</a:t>
            </a:r>
            <a:endParaRPr lang="en-US" sz="820" dirty="0"/>
          </a:p>
        </p:txBody>
      </p:sp>
      <p:sp>
        <p:nvSpPr>
          <p:cNvPr id="97" name="Text 94"/>
          <p:cNvSpPr/>
          <p:nvPr/>
        </p:nvSpPr>
        <p:spPr>
          <a:xfrm>
            <a:off x="5413248" y="50657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1.7</a:t>
            </a:r>
            <a:endParaRPr lang="en-US" sz="820" dirty="0"/>
          </a:p>
        </p:txBody>
      </p:sp>
      <p:sp>
        <p:nvSpPr>
          <p:cNvPr id="98" name="Text 95"/>
          <p:cNvSpPr/>
          <p:nvPr/>
        </p:nvSpPr>
        <p:spPr>
          <a:xfrm>
            <a:off x="5943600" y="50657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+$1.1m</a:t>
            </a:r>
            <a:endParaRPr lang="en-US" sz="820" dirty="0"/>
          </a:p>
        </p:txBody>
      </p:sp>
      <p:sp>
        <p:nvSpPr>
          <p:cNvPr id="99" name="Text 96"/>
          <p:cNvSpPr/>
          <p:nvPr/>
        </p:nvSpPr>
        <p:spPr>
          <a:xfrm>
            <a:off x="987552" y="54681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☐</a:t>
            </a:r>
            <a:endParaRPr lang="en-US" sz="820" dirty="0"/>
          </a:p>
        </p:txBody>
      </p:sp>
      <p:sp>
        <p:nvSpPr>
          <p:cNvPr id="100" name="Text 97"/>
          <p:cNvSpPr/>
          <p:nvPr/>
        </p:nvSpPr>
        <p:spPr>
          <a:xfrm>
            <a:off x="1225296" y="546811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exp-711</a:t>
            </a:r>
            <a:endParaRPr lang="en-US" sz="820" dirty="0"/>
          </a:p>
        </p:txBody>
      </p:sp>
      <p:sp>
        <p:nvSpPr>
          <p:cNvPr id="101" name="Text 98"/>
          <p:cNvSpPr/>
          <p:nvPr/>
        </p:nvSpPr>
        <p:spPr>
          <a:xfrm>
            <a:off x="1993392" y="546811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 Direction</a:t>
            </a:r>
            <a:endParaRPr lang="en-US" sz="820" dirty="0"/>
          </a:p>
        </p:txBody>
      </p:sp>
      <p:sp>
        <p:nvSpPr>
          <p:cNvPr id="102" name="Text 99"/>
          <p:cNvSpPr/>
          <p:nvPr/>
        </p:nvSpPr>
        <p:spPr>
          <a:xfrm>
            <a:off x="3145536" y="546811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5.1.2</a:t>
            </a:r>
            <a:endParaRPr lang="en-US" sz="820" dirty="0"/>
          </a:p>
        </p:txBody>
      </p:sp>
      <p:sp>
        <p:nvSpPr>
          <p:cNvPr id="103" name="Text 100"/>
          <p:cNvSpPr/>
          <p:nvPr/>
        </p:nvSpPr>
        <p:spPr>
          <a:xfrm>
            <a:off x="3931920" y="5468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Binance</a:t>
            </a:r>
            <a:endParaRPr lang="en-US" sz="820" dirty="0"/>
          </a:p>
        </p:txBody>
      </p:sp>
      <p:sp>
        <p:nvSpPr>
          <p:cNvPr id="104" name="Text 101"/>
          <p:cNvSpPr/>
          <p:nvPr/>
        </p:nvSpPr>
        <p:spPr>
          <a:xfrm>
            <a:off x="4846320" y="54681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2025H2</a:t>
            </a:r>
            <a:endParaRPr lang="en-US" sz="820" dirty="0"/>
          </a:p>
        </p:txBody>
      </p:sp>
      <p:sp>
        <p:nvSpPr>
          <p:cNvPr id="105" name="Text 102"/>
          <p:cNvSpPr/>
          <p:nvPr/>
        </p:nvSpPr>
        <p:spPr>
          <a:xfrm>
            <a:off x="5413248" y="546811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1.3</a:t>
            </a:r>
            <a:endParaRPr lang="en-US" sz="820" dirty="0"/>
          </a:p>
        </p:txBody>
      </p:sp>
      <p:sp>
        <p:nvSpPr>
          <p:cNvPr id="106" name="Text 103"/>
          <p:cNvSpPr/>
          <p:nvPr/>
        </p:nvSpPr>
        <p:spPr>
          <a:xfrm>
            <a:off x="5943600" y="5468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+$0.7m</a:t>
            </a:r>
            <a:endParaRPr lang="en-US" sz="820" dirty="0"/>
          </a:p>
        </p:txBody>
      </p:sp>
      <p:sp>
        <p:nvSpPr>
          <p:cNvPr id="107" name="Shape 104"/>
          <p:cNvSpPr/>
          <p:nvPr/>
        </p:nvSpPr>
        <p:spPr>
          <a:xfrm>
            <a:off x="932688" y="5824728"/>
            <a:ext cx="7461504" cy="237744"/>
          </a:xfrm>
          <a:prstGeom prst="rect">
            <a:avLst/>
          </a:prstGeom>
          <a:solidFill>
            <a:srgbClr val="22D3EE">
              <a:alpha val="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987552" y="587044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☑</a:t>
            </a:r>
            <a:endParaRPr lang="en-US" sz="820" dirty="0"/>
          </a:p>
        </p:txBody>
      </p:sp>
      <p:sp>
        <p:nvSpPr>
          <p:cNvPr id="109" name="Text 106"/>
          <p:cNvSpPr/>
          <p:nvPr/>
        </p:nvSpPr>
        <p:spPr>
          <a:xfrm>
            <a:off x="1225296" y="587044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exp-402</a:t>
            </a:r>
            <a:endParaRPr lang="en-US" sz="820" dirty="0"/>
          </a:p>
        </p:txBody>
      </p:sp>
      <p:sp>
        <p:nvSpPr>
          <p:cNvPr id="110" name="Text 107"/>
          <p:cNvSpPr/>
          <p:nvPr/>
        </p:nvSpPr>
        <p:spPr>
          <a:xfrm>
            <a:off x="1993392" y="587044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Sports Arb</a:t>
            </a:r>
            <a:endParaRPr lang="en-US" sz="820" dirty="0"/>
          </a:p>
        </p:txBody>
      </p:sp>
      <p:sp>
        <p:nvSpPr>
          <p:cNvPr id="111" name="Text 108"/>
          <p:cNvSpPr/>
          <p:nvPr/>
        </p:nvSpPr>
        <p:spPr>
          <a:xfrm>
            <a:off x="3145536" y="587044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1.4.0</a:t>
            </a:r>
            <a:endParaRPr lang="en-US" sz="820" dirty="0"/>
          </a:p>
        </p:txBody>
      </p:sp>
      <p:sp>
        <p:nvSpPr>
          <p:cNvPr id="112" name="Text 109"/>
          <p:cNvSpPr/>
          <p:nvPr/>
        </p:nvSpPr>
        <p:spPr>
          <a:xfrm>
            <a:off x="3931920" y="5870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Books</a:t>
            </a:r>
            <a:endParaRPr lang="en-US" sz="820" dirty="0"/>
          </a:p>
        </p:txBody>
      </p:sp>
      <p:sp>
        <p:nvSpPr>
          <p:cNvPr id="113" name="Text 110"/>
          <p:cNvSpPr/>
          <p:nvPr/>
        </p:nvSpPr>
        <p:spPr>
          <a:xfrm>
            <a:off x="4846320" y="58704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2026Q1</a:t>
            </a:r>
            <a:endParaRPr lang="en-US" sz="820" dirty="0"/>
          </a:p>
        </p:txBody>
      </p:sp>
      <p:sp>
        <p:nvSpPr>
          <p:cNvPr id="114" name="Text 111"/>
          <p:cNvSpPr/>
          <p:nvPr/>
        </p:nvSpPr>
        <p:spPr>
          <a:xfrm>
            <a:off x="5413248" y="587044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1.6</a:t>
            </a:r>
            <a:endParaRPr lang="en-US" sz="820" dirty="0"/>
          </a:p>
        </p:txBody>
      </p:sp>
      <p:sp>
        <p:nvSpPr>
          <p:cNvPr id="115" name="Text 112"/>
          <p:cNvSpPr/>
          <p:nvPr/>
        </p:nvSpPr>
        <p:spPr>
          <a:xfrm>
            <a:off x="5943600" y="58704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+$0.3m</a:t>
            </a:r>
            <a:endParaRPr lang="en-US" sz="820" dirty="0"/>
          </a:p>
        </p:txBody>
      </p:sp>
      <p:sp>
        <p:nvSpPr>
          <p:cNvPr id="116" name="Shape 113"/>
          <p:cNvSpPr/>
          <p:nvPr/>
        </p:nvSpPr>
        <p:spPr>
          <a:xfrm>
            <a:off x="987552" y="5724144"/>
            <a:ext cx="6126480" cy="310896"/>
          </a:xfrm>
          <a:prstGeom prst="roundRect">
            <a:avLst>
              <a:gd name="adj" fmla="val 23529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1188720" y="5833872"/>
            <a:ext cx="5669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Selection toolbar  (3 selected)     Promote to batch   •   Promote to live   •   Export CSV</a:t>
            </a:r>
            <a:endParaRPr lang="en-US" sz="840" dirty="0"/>
          </a:p>
        </p:txBody>
      </p:sp>
      <p:sp>
        <p:nvSpPr>
          <p:cNvPr id="118" name="Shape 115"/>
          <p:cNvSpPr/>
          <p:nvPr/>
        </p:nvSpPr>
        <p:spPr>
          <a:xfrm>
            <a:off x="8759952" y="3749040"/>
            <a:ext cx="2359152" cy="2468880"/>
          </a:xfrm>
          <a:prstGeom prst="roundRect">
            <a:avLst>
              <a:gd name="adj" fmla="val 3101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8942832" y="39684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Promotion package</a:t>
            </a:r>
            <a:endParaRPr lang="en-US" sz="1150" dirty="0"/>
          </a:p>
        </p:txBody>
      </p:sp>
      <p:sp>
        <p:nvSpPr>
          <p:cNvPr id="120" name="Text 117"/>
          <p:cNvSpPr/>
          <p:nvPr/>
        </p:nvSpPr>
        <p:spPr>
          <a:xfrm>
            <a:off x="8942832" y="427939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Selected candidates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exp-221  BTC Basis v3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exp-301  ETH Staked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exp-402  Sports Arb</a:t>
            </a:r>
            <a:endParaRPr lang="en-US" sz="850" dirty="0"/>
          </a:p>
        </p:txBody>
      </p:sp>
      <p:sp>
        <p:nvSpPr>
          <p:cNvPr id="121" name="Text 118"/>
          <p:cNvSpPr/>
          <p:nvPr/>
        </p:nvSpPr>
        <p:spPr>
          <a:xfrm>
            <a:off x="8942832" y="4846320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Approval pack includes: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• capacity estimate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• drawdown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• regime notes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• target env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• owner + scope</a:t>
            </a:r>
            <a:endParaRPr lang="en-US" sz="840" dirty="0"/>
          </a:p>
        </p:txBody>
      </p:sp>
      <p:sp>
        <p:nvSpPr>
          <p:cNvPr id="122" name="Shape 119"/>
          <p:cNvSpPr/>
          <p:nvPr/>
        </p:nvSpPr>
        <p:spPr>
          <a:xfrm>
            <a:off x="8942832" y="5687568"/>
            <a:ext cx="1792224" cy="384048"/>
          </a:xfrm>
          <a:prstGeom prst="roundRect">
            <a:avLst>
              <a:gd name="adj" fmla="val 19048"/>
            </a:avLst>
          </a:prstGeom>
          <a:solidFill>
            <a:srgbClr val="60A5FA">
              <a:alpha val="14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162288" y="5815584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A"/>
                </a:solidFill>
              </a:rPr>
              <a:t>Cross-link to Ops deploy</a:t>
            </a:r>
            <a:endParaRPr lang="en-US" sz="850" dirty="0"/>
          </a:p>
        </p:txBody>
      </p:sp>
      <p:sp>
        <p:nvSpPr>
          <p:cNvPr id="124" name="Shape 121"/>
          <p:cNvSpPr/>
          <p:nvPr/>
        </p:nvSpPr>
        <p:spPr>
          <a:xfrm>
            <a:off x="8138160" y="5870448"/>
            <a:ext cx="512064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5" name="Text 122"/>
          <p:cNvSpPr/>
          <p:nvPr/>
        </p:nvSpPr>
        <p:spPr>
          <a:xfrm>
            <a:off x="859536" y="63093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F5F7FA"/>
                </a:solidFill>
              </a:rPr>
              <a:t>No auto-deploy. Promote creates a reviewed handoff.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3891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surfaces 03–04 — Markets + Ops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Separate explanation from deployment, but connect them tightly through entity links, correlation IDs, and context-preserving routes.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8368" y="1353312"/>
            <a:ext cx="5376672" cy="5120640"/>
          </a:xfrm>
          <a:prstGeom prst="roundRect">
            <a:avLst>
              <a:gd name="adj" fmla="val 1429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63056" y="1353312"/>
            <a:ext cx="5376672" cy="5120640"/>
          </a:xfrm>
          <a:prstGeom prst="roundRect">
            <a:avLst>
              <a:gd name="adj" fmla="val 1429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1444752"/>
            <a:ext cx="11045952" cy="347472"/>
          </a:xfrm>
          <a:prstGeom prst="roundRect">
            <a:avLst>
              <a:gd name="adj" fmla="val 21053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Trading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1517904" y="153619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2414016" y="1490472"/>
            <a:ext cx="749808" cy="219456"/>
          </a:xfrm>
          <a:prstGeom prst="roundRect">
            <a:avLst>
              <a:gd name="adj" fmla="val 33333"/>
            </a:avLst>
          </a:prstGeom>
          <a:solidFill>
            <a:srgbClr val="A78BFA">
              <a:alpha val="14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87168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3200400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BBF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3913632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4626864" y="15361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0A5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5340096" y="153619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10222992" y="1490472"/>
            <a:ext cx="1143000" cy="219456"/>
          </a:xfrm>
          <a:prstGeom prst="roundRect">
            <a:avLst>
              <a:gd name="adj" fmla="val 29167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60152" y="15407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⌕  Search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86384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</a:t>
            </a:r>
            <a:endParaRPr lang="en-US" sz="810" dirty="0"/>
          </a:p>
        </p:txBody>
      </p:sp>
      <p:sp>
        <p:nvSpPr>
          <p:cNvPr id="20" name="Shape 17"/>
          <p:cNvSpPr/>
          <p:nvPr/>
        </p:nvSpPr>
        <p:spPr>
          <a:xfrm>
            <a:off x="1673352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048256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12848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Simulate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2935224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10128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0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</a:t>
            </a:r>
            <a:endParaRPr lang="en-US" sz="810" dirty="0"/>
          </a:p>
        </p:txBody>
      </p:sp>
      <p:sp>
        <p:nvSpPr>
          <p:cNvPr id="26" name="Shape 23"/>
          <p:cNvSpPr/>
          <p:nvPr/>
        </p:nvSpPr>
        <p:spPr>
          <a:xfrm>
            <a:off x="4197096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0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36592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5458968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33872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98464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810" dirty="0"/>
          </a:p>
        </p:txBody>
      </p:sp>
      <p:sp>
        <p:nvSpPr>
          <p:cNvPr id="32" name="Shape 29"/>
          <p:cNvSpPr/>
          <p:nvPr/>
        </p:nvSpPr>
        <p:spPr>
          <a:xfrm>
            <a:off x="6720840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95744" y="1847088"/>
            <a:ext cx="118872" cy="1188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60336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</a:t>
            </a:r>
            <a:endParaRPr lang="en-US" sz="810" dirty="0"/>
          </a:p>
        </p:txBody>
      </p:sp>
      <p:sp>
        <p:nvSpPr>
          <p:cNvPr id="35" name="Shape 32"/>
          <p:cNvSpPr/>
          <p:nvPr/>
        </p:nvSpPr>
        <p:spPr>
          <a:xfrm>
            <a:off x="7982712" y="1908353"/>
            <a:ext cx="347472" cy="0"/>
          </a:xfrm>
          <a:prstGeom prst="line">
            <a:avLst/>
          </a:prstGeom>
          <a:noFill/>
          <a:ln w="12700">
            <a:solidFill>
              <a:srgbClr val="26262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57616" y="1847088"/>
            <a:ext cx="118872" cy="118872"/>
          </a:xfrm>
          <a:prstGeom prst="ellipse">
            <a:avLst/>
          </a:prstGeom>
          <a:solidFill>
            <a:srgbClr val="18181B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522208" y="184343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Reconcile</a:t>
            </a:r>
            <a:endParaRPr lang="en-US" sz="810" dirty="0"/>
          </a:p>
        </p:txBody>
      </p:sp>
      <p:sp>
        <p:nvSpPr>
          <p:cNvPr id="38" name="Text 35"/>
          <p:cNvSpPr/>
          <p:nvPr/>
        </p:nvSpPr>
        <p:spPr>
          <a:xfrm>
            <a:off x="896112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Market Intelligence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896112" y="2414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3A3B2"/>
                </a:solidFill>
              </a:rPr>
              <a:t>Explain P&amp;L. Drill 5 levels. Reconcile residuals.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749808" y="2706624"/>
            <a:ext cx="5760720" cy="274320"/>
          </a:xfrm>
          <a:prstGeom prst="roundRect">
            <a:avLst>
              <a:gd name="adj" fmla="val 26667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7824" y="2770632"/>
            <a:ext cx="5440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 &gt;  Blue Coast Capital  &gt;  BTC Basis v3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896112" y="3108960"/>
            <a:ext cx="4901184" cy="1828800"/>
          </a:xfrm>
          <a:prstGeom prst="roundRect">
            <a:avLst>
              <a:gd name="adj" fmla="val 4000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78992" y="3310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P&amp;L waterfall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1078992" y="367588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</a:rPr>
              <a:t>Funding</a:t>
            </a:r>
            <a:endParaRPr lang="en-US" sz="820" dirty="0"/>
          </a:p>
        </p:txBody>
      </p:sp>
      <p:sp>
        <p:nvSpPr>
          <p:cNvPr id="45" name="Shape 42"/>
          <p:cNvSpPr/>
          <p:nvPr/>
        </p:nvSpPr>
        <p:spPr>
          <a:xfrm>
            <a:off x="1810512" y="3694176"/>
            <a:ext cx="2468880" cy="1097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26280" y="367588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</a:rPr>
              <a:t>+$412k</a:t>
            </a:r>
            <a:endParaRPr lang="en-US" sz="820" dirty="0"/>
          </a:p>
        </p:txBody>
      </p:sp>
      <p:sp>
        <p:nvSpPr>
          <p:cNvPr id="47" name="Text 44"/>
          <p:cNvSpPr/>
          <p:nvPr/>
        </p:nvSpPr>
        <p:spPr>
          <a:xfrm>
            <a:off x="1078992" y="385876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</a:rPr>
              <a:t>Carry</a:t>
            </a:r>
            <a:endParaRPr lang="en-US" sz="820" dirty="0"/>
          </a:p>
        </p:txBody>
      </p:sp>
      <p:sp>
        <p:nvSpPr>
          <p:cNvPr id="48" name="Shape 45"/>
          <p:cNvSpPr/>
          <p:nvPr/>
        </p:nvSpPr>
        <p:spPr>
          <a:xfrm>
            <a:off x="1810512" y="3877056"/>
            <a:ext cx="2011680" cy="1097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526280" y="385876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</a:rPr>
              <a:t>+$355k</a:t>
            </a:r>
            <a:endParaRPr lang="en-US" sz="820" dirty="0"/>
          </a:p>
        </p:txBody>
      </p:sp>
      <p:sp>
        <p:nvSpPr>
          <p:cNvPr id="50" name="Text 47"/>
          <p:cNvSpPr/>
          <p:nvPr/>
        </p:nvSpPr>
        <p:spPr>
          <a:xfrm>
            <a:off x="1078992" y="404164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</a:rPr>
              <a:t>Basis</a:t>
            </a:r>
            <a:endParaRPr lang="en-US" sz="820" dirty="0"/>
          </a:p>
        </p:txBody>
      </p:sp>
      <p:sp>
        <p:nvSpPr>
          <p:cNvPr id="51" name="Shape 48"/>
          <p:cNvSpPr/>
          <p:nvPr/>
        </p:nvSpPr>
        <p:spPr>
          <a:xfrm>
            <a:off x="1810512" y="4059936"/>
            <a:ext cx="1463040" cy="1097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526280" y="404164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</a:rPr>
              <a:t>+$188k</a:t>
            </a:r>
            <a:endParaRPr lang="en-US" sz="820" dirty="0"/>
          </a:p>
        </p:txBody>
      </p:sp>
      <p:sp>
        <p:nvSpPr>
          <p:cNvPr id="53" name="Text 50"/>
          <p:cNvSpPr/>
          <p:nvPr/>
        </p:nvSpPr>
        <p:spPr>
          <a:xfrm>
            <a:off x="1078992" y="422452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</a:rPr>
              <a:t>Staking</a:t>
            </a:r>
            <a:endParaRPr lang="en-US" sz="820" dirty="0"/>
          </a:p>
        </p:txBody>
      </p:sp>
      <p:sp>
        <p:nvSpPr>
          <p:cNvPr id="54" name="Shape 51"/>
          <p:cNvSpPr/>
          <p:nvPr/>
        </p:nvSpPr>
        <p:spPr>
          <a:xfrm>
            <a:off x="1810512" y="4242816"/>
            <a:ext cx="1188720" cy="1097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26280" y="42245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</a:rPr>
              <a:t>+$145k</a:t>
            </a:r>
            <a:endParaRPr lang="en-US" sz="820" dirty="0"/>
          </a:p>
        </p:txBody>
      </p:sp>
      <p:sp>
        <p:nvSpPr>
          <p:cNvPr id="56" name="Text 53"/>
          <p:cNvSpPr/>
          <p:nvPr/>
        </p:nvSpPr>
        <p:spPr>
          <a:xfrm>
            <a:off x="1078992" y="440740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</a:rPr>
              <a:t>Delta</a:t>
            </a:r>
            <a:endParaRPr lang="en-US" sz="820" dirty="0"/>
          </a:p>
        </p:txBody>
      </p:sp>
      <p:sp>
        <p:nvSpPr>
          <p:cNvPr id="57" name="Shape 54"/>
          <p:cNvSpPr/>
          <p:nvPr/>
        </p:nvSpPr>
        <p:spPr>
          <a:xfrm>
            <a:off x="1810512" y="4425696"/>
            <a:ext cx="822960" cy="1097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526280" y="440740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DE80"/>
                </a:solidFill>
              </a:rPr>
              <a:t>+$61k</a:t>
            </a:r>
            <a:endParaRPr lang="en-US" sz="820" dirty="0"/>
          </a:p>
        </p:txBody>
      </p:sp>
      <p:sp>
        <p:nvSpPr>
          <p:cNvPr id="59" name="Text 56"/>
          <p:cNvSpPr/>
          <p:nvPr/>
        </p:nvSpPr>
        <p:spPr>
          <a:xfrm>
            <a:off x="1078992" y="459028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</a:rPr>
              <a:t>Slippage</a:t>
            </a:r>
            <a:endParaRPr lang="en-US" sz="820" dirty="0"/>
          </a:p>
        </p:txBody>
      </p:sp>
      <p:sp>
        <p:nvSpPr>
          <p:cNvPr id="60" name="Shape 57"/>
          <p:cNvSpPr/>
          <p:nvPr/>
        </p:nvSpPr>
        <p:spPr>
          <a:xfrm>
            <a:off x="1810512" y="4608576"/>
            <a:ext cx="731520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526280" y="459028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7171"/>
                </a:solidFill>
              </a:rPr>
              <a:t>-$61k</a:t>
            </a:r>
            <a:endParaRPr lang="en-US" sz="820" dirty="0"/>
          </a:p>
        </p:txBody>
      </p:sp>
      <p:sp>
        <p:nvSpPr>
          <p:cNvPr id="62" name="Text 59"/>
          <p:cNvSpPr/>
          <p:nvPr/>
        </p:nvSpPr>
        <p:spPr>
          <a:xfrm>
            <a:off x="1078992" y="477316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</a:rPr>
              <a:t>Fees</a:t>
            </a:r>
            <a:endParaRPr lang="en-US" sz="820" dirty="0"/>
          </a:p>
        </p:txBody>
      </p:sp>
      <p:sp>
        <p:nvSpPr>
          <p:cNvPr id="63" name="Shape 60"/>
          <p:cNvSpPr/>
          <p:nvPr/>
        </p:nvSpPr>
        <p:spPr>
          <a:xfrm>
            <a:off x="1810512" y="4791456"/>
            <a:ext cx="530352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526280" y="477316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7171"/>
                </a:solidFill>
              </a:rPr>
              <a:t>-$44k</a:t>
            </a:r>
            <a:endParaRPr lang="en-US" sz="820" dirty="0"/>
          </a:p>
        </p:txBody>
      </p:sp>
      <p:sp>
        <p:nvSpPr>
          <p:cNvPr id="65" name="Text 62"/>
          <p:cNvSpPr/>
          <p:nvPr/>
        </p:nvSpPr>
        <p:spPr>
          <a:xfrm>
            <a:off x="1078992" y="495604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3A3B2"/>
                </a:solidFill>
              </a:rPr>
              <a:t>Recon</a:t>
            </a:r>
            <a:endParaRPr lang="en-US" sz="820" dirty="0"/>
          </a:p>
        </p:txBody>
      </p:sp>
      <p:sp>
        <p:nvSpPr>
          <p:cNvPr id="66" name="Shape 63"/>
          <p:cNvSpPr/>
          <p:nvPr/>
        </p:nvSpPr>
        <p:spPr>
          <a:xfrm>
            <a:off x="1810512" y="4974336"/>
            <a:ext cx="310896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26280" y="495604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7171"/>
                </a:solidFill>
              </a:rPr>
              <a:t>-$18k</a:t>
            </a:r>
            <a:endParaRPr lang="en-US" sz="820" dirty="0"/>
          </a:p>
        </p:txBody>
      </p:sp>
      <p:sp>
        <p:nvSpPr>
          <p:cNvPr id="68" name="Shape 65"/>
          <p:cNvSpPr/>
          <p:nvPr/>
        </p:nvSpPr>
        <p:spPr>
          <a:xfrm>
            <a:off x="896112" y="5193792"/>
            <a:ext cx="2304288" cy="932688"/>
          </a:xfrm>
          <a:prstGeom prst="roundRect">
            <a:avLst>
              <a:gd name="adj" fmla="val 784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078992" y="5376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7FA"/>
                </a:solidFill>
              </a:rPr>
              <a:t>Drill path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1078992" y="561441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3A3B2"/>
                </a:solidFill>
              </a:rPr>
              <a:t>All → Client → Strategy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A3A3B2"/>
                </a:solidFill>
              </a:rPr>
              <a:t>→ Venue → Component</a:t>
            </a:r>
            <a:endParaRPr lang="en-US" sz="860" dirty="0"/>
          </a:p>
        </p:txBody>
      </p:sp>
      <p:sp>
        <p:nvSpPr>
          <p:cNvPr id="71" name="Shape 68"/>
          <p:cNvSpPr/>
          <p:nvPr/>
        </p:nvSpPr>
        <p:spPr>
          <a:xfrm>
            <a:off x="3493008" y="5193792"/>
            <a:ext cx="2304288" cy="932688"/>
          </a:xfrm>
          <a:prstGeom prst="roundRect">
            <a:avLst>
              <a:gd name="adj" fmla="val 7843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675888" y="53766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7FA"/>
                </a:solidFill>
              </a:rPr>
              <a:t>Recon + latency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3675888" y="5614416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A3A3B2"/>
                </a:solidFill>
              </a:rPr>
              <a:t>Residual bucket links to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A3A3B2"/>
                </a:solidFill>
              </a:rPr>
              <a:t>open recon cases + traces</a:t>
            </a:r>
            <a:endParaRPr lang="en-US" sz="860" dirty="0"/>
          </a:p>
        </p:txBody>
      </p:sp>
      <p:sp>
        <p:nvSpPr>
          <p:cNvPr id="74" name="Text 71"/>
          <p:cNvSpPr/>
          <p:nvPr/>
        </p:nvSpPr>
        <p:spPr>
          <a:xfrm>
            <a:off x="6400800" y="2139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</a:rPr>
              <a:t>Operations Hub</a:t>
            </a:r>
            <a:endParaRPr lang="en-US" sz="1800" dirty="0"/>
          </a:p>
        </p:txBody>
      </p:sp>
      <p:sp>
        <p:nvSpPr>
          <p:cNvPr id="75" name="Text 72"/>
          <p:cNvSpPr/>
          <p:nvPr/>
        </p:nvSpPr>
        <p:spPr>
          <a:xfrm>
            <a:off x="6400800" y="24140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3A3B2"/>
                </a:solidFill>
              </a:rPr>
              <a:t>Deploy, observe, diagnose — never pretend to be the P&amp;L home.</a:t>
            </a:r>
            <a:endParaRPr lang="en-US" sz="980" dirty="0"/>
          </a:p>
        </p:txBody>
      </p:sp>
      <p:sp>
        <p:nvSpPr>
          <p:cNvPr id="76" name="Shape 73"/>
          <p:cNvSpPr/>
          <p:nvPr/>
        </p:nvSpPr>
        <p:spPr>
          <a:xfrm>
            <a:off x="6400800" y="3108960"/>
            <a:ext cx="4901184" cy="1078992"/>
          </a:xfrm>
          <a:prstGeom prst="roundRect">
            <a:avLst>
              <a:gd name="adj" fmla="val 6780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583680" y="33101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Batch summary + recent deploys</a:t>
            </a:r>
            <a:endParaRPr lang="en-US" sz="1150" dirty="0"/>
          </a:p>
        </p:txBody>
      </p:sp>
      <p:sp>
        <p:nvSpPr>
          <p:cNvPr id="78" name="Text 75"/>
          <p:cNvSpPr/>
          <p:nvPr/>
        </p:nvSpPr>
        <p:spPr>
          <a:xfrm>
            <a:off x="6583680" y="3602736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● 47 done   ▲ 3 failed   ◎ 12 running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execution-service  prod v31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features-delta-one prod v17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A3A3B2"/>
                </a:solidFill>
              </a:rPr>
              <a:t>risk-and-exposure  prod v12</a:t>
            </a:r>
            <a:endParaRPr lang="en-US" sz="840" dirty="0"/>
          </a:p>
        </p:txBody>
      </p:sp>
      <p:sp>
        <p:nvSpPr>
          <p:cNvPr id="79" name="Shape 76"/>
          <p:cNvSpPr/>
          <p:nvPr/>
        </p:nvSpPr>
        <p:spPr>
          <a:xfrm>
            <a:off x="6400800" y="4517136"/>
            <a:ext cx="2395728" cy="1609344"/>
          </a:xfrm>
          <a:prstGeom prst="roundRect">
            <a:avLst>
              <a:gd name="adj" fmla="val 4545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583680" y="471830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5F7FA"/>
                </a:solidFill>
              </a:rPr>
              <a:t>Observe</a:t>
            </a:r>
            <a:endParaRPr lang="en-US" sz="1080" dirty="0"/>
          </a:p>
        </p:txBody>
      </p:sp>
      <p:sp>
        <p:nvSpPr>
          <p:cNvPr id="81" name="Text 78"/>
          <p:cNvSpPr/>
          <p:nvPr/>
        </p:nvSpPr>
        <p:spPr>
          <a:xfrm>
            <a:off x="6583680" y="502920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3A3B2"/>
                </a:solidFill>
              </a:rPr>
              <a:t>Jobs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3A3B2"/>
                </a:solidFill>
              </a:rPr>
              <a:t>Logs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3A3B2"/>
                </a:solidFill>
              </a:rPr>
              <a:t>Events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3A3B2"/>
                </a:solidFill>
              </a:rPr>
              <a:t>Data health</a:t>
            </a:r>
            <a:endParaRPr lang="en-US" sz="880" dirty="0"/>
          </a:p>
        </p:txBody>
      </p:sp>
      <p:sp>
        <p:nvSpPr>
          <p:cNvPr id="82" name="Shape 79"/>
          <p:cNvSpPr/>
          <p:nvPr/>
        </p:nvSpPr>
        <p:spPr>
          <a:xfrm>
            <a:off x="8906256" y="4517136"/>
            <a:ext cx="2395728" cy="1609344"/>
          </a:xfrm>
          <a:prstGeom prst="roundRect">
            <a:avLst>
              <a:gd name="adj" fmla="val 4545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089136" y="471830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5F7FA"/>
                </a:solidFill>
              </a:rPr>
              <a:t>Compliance</a:t>
            </a:r>
            <a:endParaRPr lang="en-US" sz="1080" dirty="0"/>
          </a:p>
        </p:txBody>
      </p:sp>
      <p:sp>
        <p:nvSpPr>
          <p:cNvPr id="84" name="Text 81"/>
          <p:cNvSpPr/>
          <p:nvPr/>
        </p:nvSpPr>
        <p:spPr>
          <a:xfrm>
            <a:off x="9089136" y="5029200"/>
            <a:ext cx="1133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3A3B2"/>
                </a:solidFill>
              </a:rPr>
              <a:t>Audit trail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3A3B2"/>
                </a:solidFill>
              </a:rPr>
              <a:t>Compliance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3A3B2"/>
                </a:solidFill>
              </a:rPr>
              <a:t>CI/CD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3A3B2"/>
                </a:solidFill>
              </a:rPr>
              <a:t>Deploy pre-fill from strategy</a:t>
            </a:r>
            <a:endParaRPr lang="en-US" sz="880" dirty="0"/>
          </a:p>
        </p:txBody>
      </p:sp>
      <p:sp>
        <p:nvSpPr>
          <p:cNvPr id="85" name="Shape 82"/>
          <p:cNvSpPr/>
          <p:nvPr/>
        </p:nvSpPr>
        <p:spPr>
          <a:xfrm>
            <a:off x="5815584" y="5376672"/>
            <a:ext cx="256032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6" name="Text 83"/>
          <p:cNvSpPr/>
          <p:nvPr/>
        </p:nvSpPr>
        <p:spPr>
          <a:xfrm>
            <a:off x="3749040" y="62910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7FA"/>
                </a:solidFill>
              </a:rPr>
              <a:t>Link analysis to deploys, traces, and incidents — but keep each truth surface clean.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3891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Implementation path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412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Refactor the shared language first, then collapse the duplicated surfaces behind it.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3232" y="1243584"/>
            <a:ext cx="3822192" cy="5285232"/>
          </a:xfrm>
          <a:prstGeom prst="roundRect">
            <a:avLst>
              <a:gd name="adj" fmla="val 1914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32688" y="14996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Phase stack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32688" y="1901952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20482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P0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36192" y="20116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7FA"/>
                </a:solidFill>
              </a:rPr>
              <a:t>Shared ui-kit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536192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A3B2"/>
                </a:solidFill>
              </a:rPr>
              <a:t>GlobalNavBar • LifecycleRail • BreadcrumbNav • EntityLink • CrossLink • DimensionalGrid • FilterBar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932688" y="2724912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8712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A3B2"/>
                </a:solidFill>
              </a:rPr>
              <a:t>P1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536192" y="283464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7FA"/>
                </a:solidFill>
              </a:rPr>
              <a:t>Remove /deployments pollution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536192" y="3035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A3B2"/>
                </a:solidFill>
              </a:rPr>
              <a:t>Mount nav shell everywhere and replace plain-text entities with deep links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932688" y="3547872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369417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A3B2"/>
                </a:solidFill>
              </a:rPr>
              <a:t>P2–P5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536192" y="365760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7FA"/>
                </a:solidFill>
              </a:rPr>
              <a:t>Collapse duplicate UIs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36192" y="3858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A3B2"/>
                </a:solidFill>
              </a:rPr>
              <a:t>Strategy merge • Ops merge • Settlement merge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932688" y="4370832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78992" y="4517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A3B2"/>
                </a:solidFill>
              </a:rPr>
              <a:t>P6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536192" y="448056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7FA"/>
                </a:solidFill>
              </a:rPr>
              <a:t>Build canonical P&amp;L hierarchy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536192" y="46817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A3B2"/>
                </a:solidFill>
              </a:rPr>
              <a:t>5-level drill-down + attribution + recon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932688" y="5193792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8992" y="53400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A3B2"/>
                </a:solidFill>
              </a:rPr>
              <a:t>P7–P8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536192" y="530352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7FA"/>
                </a:solidFill>
              </a:rPr>
              <a:t>Hardening + config flows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536192" y="55046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A3B2"/>
                </a:solidFill>
              </a:rPr>
              <a:t>FilterBars, breadcrumbs, accessibility, real generator wiring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4773168" y="1243584"/>
            <a:ext cx="6711696" cy="5285232"/>
          </a:xfrm>
          <a:prstGeom prst="roundRect">
            <a:avLst>
              <a:gd name="adj" fmla="val 1384"/>
            </a:avLst>
          </a:prstGeom>
          <a:solidFill>
            <a:srgbClr val="0D0E10"/>
          </a:solidFill>
          <a:ln w="12700">
            <a:solidFill>
              <a:srgbClr val="26262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3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029200" y="1499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What “done” looks like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065776" y="1901952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30368" y="20665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F7FA"/>
                </a:solidFill>
              </a:rPr>
              <a:t>User outcomes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5248656" y="2432304"/>
            <a:ext cx="731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76672" y="23774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One answer to “what is happening right now?”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248656" y="2816352"/>
            <a:ext cx="731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76672" y="27614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One canonical P&amp;L home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248656" y="3200400"/>
            <a:ext cx="731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76672" y="31455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One obvious next step in the lifecycle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315200" y="1901952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79792" y="20665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F7FA"/>
                </a:solidFill>
              </a:rPr>
              <a:t>System outcomes</a:t>
            </a:r>
            <a:endParaRPr lang="en-US" sz="1120" dirty="0"/>
          </a:p>
        </p:txBody>
      </p:sp>
      <p:sp>
        <p:nvSpPr>
          <p:cNvPr id="39" name="Shape 36"/>
          <p:cNvSpPr/>
          <p:nvPr/>
        </p:nvSpPr>
        <p:spPr>
          <a:xfrm>
            <a:off x="7498080" y="2432304"/>
            <a:ext cx="731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626096" y="23774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7 repos, 7 ports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498080" y="2816352"/>
            <a:ext cx="731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26096" y="27614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Zero duplicated deployments routes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7498080" y="3200400"/>
            <a:ext cx="731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26096" y="31455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Cross-surface context preserved by URL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9564624" y="1901952"/>
            <a:ext cx="1682496" cy="1874520"/>
          </a:xfrm>
          <a:prstGeom prst="roundRect">
            <a:avLst>
              <a:gd name="adj" fmla="val 4348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729216" y="206654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F7FA"/>
                </a:solidFill>
              </a:rPr>
              <a:t>Design outcomes</a:t>
            </a:r>
            <a:endParaRPr lang="en-US" sz="1120" dirty="0"/>
          </a:p>
        </p:txBody>
      </p:sp>
      <p:sp>
        <p:nvSpPr>
          <p:cNvPr id="47" name="Shape 44"/>
          <p:cNvSpPr/>
          <p:nvPr/>
        </p:nvSpPr>
        <p:spPr>
          <a:xfrm>
            <a:off x="9747504" y="2432304"/>
            <a:ext cx="731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875520" y="2377440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Institutional dark theme kept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9747504" y="2816352"/>
            <a:ext cx="731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875520" y="276148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Denser but calmer layouts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9747504" y="3200400"/>
            <a:ext cx="7315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875520" y="314553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A3B2"/>
                </a:solidFill>
              </a:rPr>
              <a:t>Every entity is a portal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5065776" y="4169664"/>
            <a:ext cx="6181344" cy="1517904"/>
          </a:xfrm>
          <a:prstGeom prst="roundRect">
            <a:avLst>
              <a:gd name="adj" fmla="val 4819"/>
            </a:avLst>
          </a:prstGeom>
          <a:solidFill>
            <a:srgbClr val="111113"/>
          </a:solidFill>
          <a:ln w="12700">
            <a:solidFill>
              <a:srgbClr val="26262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285232" y="43342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5F7FA"/>
                </a:solidFill>
              </a:rPr>
              <a:t>Final thesis</a:t>
            </a:r>
            <a:endParaRPr lang="en-US" sz="1140" dirty="0"/>
          </a:p>
        </p:txBody>
      </p:sp>
      <p:sp>
        <p:nvSpPr>
          <p:cNvPr id="55" name="Text 52"/>
          <p:cNvSpPr/>
          <p:nvPr/>
        </p:nvSpPr>
        <p:spPr>
          <a:xfrm>
            <a:off x="5285232" y="4736592"/>
            <a:ext cx="5449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</a:rPr>
              <a:t>The redesign does not make the trading system simpler. It makes the complexity legible: navigable via hierarchy, oriented by lifecycle, and connected by deep links.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5285232" y="5321808"/>
            <a:ext cx="1042416" cy="256032"/>
          </a:xfrm>
          <a:prstGeom prst="roundRect">
            <a:avLst>
              <a:gd name="adj" fmla="val 35714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58384" y="537210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2D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Hierarchy</a:t>
            </a:r>
            <a:endParaRPr lang="en-US" sz="820" dirty="0"/>
          </a:p>
        </p:txBody>
      </p:sp>
      <p:sp>
        <p:nvSpPr>
          <p:cNvPr id="58" name="Shape 55"/>
          <p:cNvSpPr/>
          <p:nvPr/>
        </p:nvSpPr>
        <p:spPr>
          <a:xfrm>
            <a:off x="6455664" y="5321808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4ADE80">
              <a:alpha val="12000"/>
            </a:srgbClr>
          </a:solidFill>
          <a:ln w="12700">
            <a:solidFill>
              <a:srgbClr val="4ADE80">
                <a:alpha val="3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528816" y="537210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ADE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Lifecycle</a:t>
            </a:r>
            <a:endParaRPr lang="en-US" sz="820" dirty="0"/>
          </a:p>
        </p:txBody>
      </p:sp>
      <p:sp>
        <p:nvSpPr>
          <p:cNvPr id="60" name="Shape 57"/>
          <p:cNvSpPr/>
          <p:nvPr/>
        </p:nvSpPr>
        <p:spPr>
          <a:xfrm>
            <a:off x="7589520" y="5321808"/>
            <a:ext cx="1261872" cy="256032"/>
          </a:xfrm>
          <a:prstGeom prst="roundRect">
            <a:avLst>
              <a:gd name="adj" fmla="val 35714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662672" y="537210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78B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Cross-linking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Trading Platform — UI/UX Redesign Vision</dc:title>
  <dc:subject>Unified Trading Platform — UI/UX Redesign Vision</dc:subject>
  <dc:creator>OpenAI</dc:creator>
  <cp:lastModifiedBy>OpenAI</cp:lastModifiedBy>
  <cp:revision>1</cp:revision>
  <dcterms:created xsi:type="dcterms:W3CDTF">2026-03-17T07:55:20Z</dcterms:created>
  <dcterms:modified xsi:type="dcterms:W3CDTF">2026-03-17T07:55:20Z</dcterms:modified>
</cp:coreProperties>
</file>